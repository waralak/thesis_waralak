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Arimo"/>
      <p:regular r:id="rId24"/>
      <p:bold r:id="rId25"/>
      <p:italic r:id="rId26"/>
      <p:boldItalic r:id="rId27"/>
    </p:embeddedFont>
    <p:embeddedFont>
      <p:font typeface="Fjalla One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8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77E4B9-CBAB-4056-B541-0760D870859A}">
  <a:tblStyle styleId="{3F77E4B9-CBAB-4056-B541-0760D870859A}" styleName="Table_0">
    <a:wholeTbl>
      <a:tcTxStyle b="off" i="off">
        <a:font>
          <a:latin typeface="Bio Sans Light"/>
          <a:ea typeface="Bio Sans Light"/>
          <a:cs typeface="Bio Sans Light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Bio Sans Light"/>
          <a:ea typeface="Bio Sans Light"/>
          <a:cs typeface="Bio Sans Light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Bio Sans Light"/>
          <a:ea typeface="Bio Sans Light"/>
          <a:cs typeface="Bio Sans Light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Bio Sans Light"/>
          <a:ea typeface="Bio Sans Light"/>
          <a:cs typeface="Bio Sans Light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Bio Sans Light"/>
          <a:ea typeface="Bio Sans Light"/>
          <a:cs typeface="Bio Sans Light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  <a:tblStyle styleId="{A300244E-FEE5-4FC1-9ED4-2814F74A55E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81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rim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-italic.fntdata"/><Relationship Id="rId25" Type="http://schemas.openxmlformats.org/officeDocument/2006/relationships/font" Target="fonts/Arimo-bold.fntdata"/><Relationship Id="rId28" Type="http://schemas.openxmlformats.org/officeDocument/2006/relationships/font" Target="fonts/FjallaOne-regular.fntdata"/><Relationship Id="rId27" Type="http://schemas.openxmlformats.org/officeDocument/2006/relationships/font" Target="fonts/Arim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e17be2ce2d_0_1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1e17be2ce2d_0_1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e17be2d115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1e17be2d115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17be2d115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1e17be2d115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e17be2d115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1e17be2d115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17be2d115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1e17be2d115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17be2d115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1e17be2d115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17be2d115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1e17be2d115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e17be2ce2d_0_1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1e17be2ce2d_0_1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n-US"/>
              <a:t>The overall purpose of the work is to … 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objectives of the present research run as follows: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1…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2…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3…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Design and develop optimization method to obtain the optimal portfolio sold-out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2. Apply optimization method to the MakerDao dataset</a:t>
            </a:r>
            <a:endParaRPr/>
          </a:p>
        </p:txBody>
      </p:sp>
      <p:sp>
        <p:nvSpPr>
          <p:cNvPr id="176" name="Google Shape;1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f28948fe8_1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22f28948fe8_1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17be2d115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1e17be2d115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f28948fe8_1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22f28948fe8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e17be2ce2d_0_1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1e17be2ce2d_0_1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e17be2ce2d_0_1271:notes"/>
          <p:cNvSpPr txBox="1"/>
          <p:nvPr>
            <p:ph idx="1" type="body"/>
          </p:nvPr>
        </p:nvSpPr>
        <p:spPr>
          <a:xfrm>
            <a:off x="233943" y="3557997"/>
            <a:ext cx="18714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lang="en-US" sz="700"/>
              <a:t>The compact continuous with continuous algorithm, 77% of initial assets are tokenized and allocated into packages which is the highest tokenized fraction. Following by continuous and discrete algorithm. </a:t>
            </a:r>
            <a:endParaRPr sz="700"/>
          </a:p>
        </p:txBody>
      </p:sp>
      <p:sp>
        <p:nvSpPr>
          <p:cNvPr id="231" name="Google Shape;231;g1e17be2ce2d_0_1271:notes"/>
          <p:cNvSpPr/>
          <p:nvPr>
            <p:ph idx="2" type="sldImg"/>
          </p:nvPr>
        </p:nvSpPr>
        <p:spPr>
          <a:xfrm>
            <a:off x="233877" y="924155"/>
            <a:ext cx="1871700" cy="24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17be2ce2d_0_1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1e17be2ce2d_0_1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Phrases you may find useful: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All these results suggest that …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We can conclude that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Taken together, these results point to three conclusions …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To sum up,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Although it is still too early to draw a definite conclusion, it can be stated that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Although the obtained data are limited, we may conclude that </a:t>
            </a:r>
            <a:endParaRPr/>
          </a:p>
        </p:txBody>
      </p:sp>
      <p:sp>
        <p:nvSpPr>
          <p:cNvPr id="245" name="Google Shape;245;g1e17be2ce2d_0_1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Phrases you may find useful: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The achieved results indicate that the work along the same line should proceed. Thus, the long-term results of the project are to …</a:t>
            </a:r>
            <a:endParaRPr i="1"/>
          </a:p>
          <a:p>
            <a:pPr indent="-825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">
  <p:cSld name="Speak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body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fmla="val 5396160" name="adj1"/>
              <a:gd fmla="val 10809062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ver+partners">
  <p:cSld name="2_Cover+partners">
    <p:bg>
      <p:bgPr>
        <a:solidFill>
          <a:srgbClr val="AAC50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40050" l="0" r="0" t="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body"/>
          </p:nvPr>
        </p:nvSpPr>
        <p:spPr>
          <a:xfrm>
            <a:off x="1052215" y="635886"/>
            <a:ext cx="7977485" cy="4354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1052215" y="5595431"/>
            <a:ext cx="2457467" cy="4376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5715001" y="5785757"/>
            <a:ext cx="5600700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peaker">
  <p:cSld name="1_Speak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body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fmla="val 5396160" name="adj1"/>
              <a:gd fmla="val 10809062" name="adj2"/>
            </a:avLst>
          </a:prstGeom>
          <a:solidFill>
            <a:srgbClr val="AAC5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peaker: bio">
  <p:cSld name="1_Speaker: bi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3139624" y="365123"/>
            <a:ext cx="7847862" cy="605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796243" y="2541481"/>
            <a:ext cx="884512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body"/>
          </p:nvPr>
        </p:nvSpPr>
        <p:spPr>
          <a:xfrm>
            <a:off x="796242" y="3493118"/>
            <a:ext cx="2159000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 rot="-5400000">
            <a:off x="8840264" y="2512345"/>
            <a:ext cx="5941050" cy="1646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0"/>
              <a:buFont typeface="Arial"/>
              <a:buNone/>
            </a:pPr>
            <a:r>
              <a:rPr b="1" i="0" lang="en-US" sz="101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 b="1" i="0" sz="10100" u="none" cap="none" strike="noStrike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>
            <p:ph idx="4" type="pic"/>
          </p:nvPr>
        </p:nvSpPr>
        <p:spPr>
          <a:xfrm>
            <a:off x="796242" y="365122"/>
            <a:ext cx="2060615" cy="2061555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 txBox="1"/>
          <p:nvPr>
            <p:ph idx="5" type="body"/>
          </p:nvPr>
        </p:nvSpPr>
        <p:spPr>
          <a:xfrm>
            <a:off x="796242" y="2974142"/>
            <a:ext cx="127448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act: basic">
  <p:cSld name="1_Contact: basic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en-US" sz="115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1" i="0" sz="11500" u="none" cap="none" strike="noStrike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act: advanced">
  <p:cSld name="1_Contact: advanced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en-US" sz="115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1" i="0" sz="11500" u="none" cap="none" strike="noStrike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 txBox="1"/>
          <p:nvPr>
            <p:ph idx="2" type="body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3" type="body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7"/>
          <p:cNvSpPr txBox="1"/>
          <p:nvPr/>
        </p:nvSpPr>
        <p:spPr>
          <a:xfrm>
            <a:off x="938280" y="5980919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social: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24312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2660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6910" y="6023543"/>
            <a:ext cx="252042" cy="25204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idx="4" type="body"/>
          </p:nvPr>
        </p:nvSpPr>
        <p:spPr>
          <a:xfrm>
            <a:off x="2667434" y="6002231"/>
            <a:ext cx="2383701" cy="2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5" type="body"/>
          </p:nvPr>
        </p:nvSpPr>
        <p:spPr>
          <a:xfrm>
            <a:off x="5713849" y="6002231"/>
            <a:ext cx="2547933" cy="2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6" type="body"/>
          </p:nvPr>
        </p:nvSpPr>
        <p:spPr>
          <a:xfrm>
            <a:off x="8839599" y="5980919"/>
            <a:ext cx="2541779" cy="2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ver+partners">
  <p:cSld name="3_Cover+partners">
    <p:bg>
      <p:bgPr>
        <a:solidFill>
          <a:srgbClr val="AAC50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/>
        </p:nvSpPr>
        <p:spPr>
          <a:xfrm>
            <a:off x="921748" y="182880"/>
            <a:ext cx="9472204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b="1" i="0" lang="en-US" sz="1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thx.</a:t>
            </a:r>
            <a:endParaRPr b="1" i="0" sz="1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 b="40050" l="0" r="0" t="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8"/>
          <p:cNvCxnSpPr/>
          <p:nvPr/>
        </p:nvCxnSpPr>
        <p:spPr>
          <a:xfrm>
            <a:off x="0" y="5785757"/>
            <a:ext cx="11315701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2" name="Google Shape;72;p8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 type="tx">
  <p:cSld name="TITLE_AND_BODY"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9900459" y="6459786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75" lIns="45700" spcFirstLastPara="1" rIns="45700" wrap="square" tIns="228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3.jp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/>
        </p:nvSpPr>
        <p:spPr>
          <a:xfrm>
            <a:off x="7534123" y="907624"/>
            <a:ext cx="2493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 Program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1531800" y="1890775"/>
            <a:ext cx="91284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Portfolio Sold-Out Problem in Numbers</a:t>
            </a:r>
            <a:endParaRPr sz="4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for DeFi Lending Protocols</a:t>
            </a:r>
            <a:endParaRPr sz="4000"/>
          </a:p>
        </p:txBody>
      </p:sp>
      <p:sp>
        <p:nvSpPr>
          <p:cNvPr id="81" name="Google Shape;81;p10"/>
          <p:cNvSpPr txBox="1"/>
          <p:nvPr/>
        </p:nvSpPr>
        <p:spPr>
          <a:xfrm>
            <a:off x="3695967" y="3528403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Waralak Pariwatphan</a:t>
            </a:r>
            <a:endParaRPr sz="2000"/>
          </a:p>
          <a:p>
            <a:pPr indent="-228600" lvl="0" marL="45720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Advisor: </a:t>
            </a:r>
            <a:r>
              <a:rPr i="1" lang="en-US" sz="2000">
                <a:solidFill>
                  <a:schemeClr val="dk1"/>
                </a:solidFill>
              </a:rPr>
              <a:t>Yury Yanovich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 txBox="1"/>
          <p:nvPr/>
        </p:nvSpPr>
        <p:spPr>
          <a:xfrm>
            <a:off x="3204795" y="5938164"/>
            <a:ext cx="6400800" cy="34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April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0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2023</a:t>
            </a:r>
            <a:endParaRPr b="0" i="0" sz="2000" u="none" cap="none" strike="noStrike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3" name="Google Shape;83;p10"/>
          <p:cNvSpPr txBox="1"/>
          <p:nvPr/>
        </p:nvSpPr>
        <p:spPr>
          <a:xfrm>
            <a:off x="10300608" y="6278196"/>
            <a:ext cx="1891392" cy="340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1/17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8023122" y="158455"/>
            <a:ext cx="37854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Приложение 4 / Appendix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9363125" y="5362425"/>
            <a:ext cx="2020200" cy="648600"/>
          </a:xfrm>
          <a:prstGeom prst="rect">
            <a:avLst/>
          </a:prstGeom>
          <a:solidFill>
            <a:srgbClr val="FF0000">
              <a:alpha val="46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Background</a:t>
            </a:r>
            <a:r>
              <a:rPr b="1" lang="en-US" sz="4000">
                <a:solidFill>
                  <a:srgbClr val="253957"/>
                </a:solidFill>
              </a:rPr>
              <a:t>: </a:t>
            </a:r>
            <a:r>
              <a:rPr b="1" lang="en-US" sz="3500" cap="none">
                <a:solidFill>
                  <a:srgbClr val="253957"/>
                </a:solidFill>
              </a:rPr>
              <a:t>D</a:t>
            </a:r>
            <a:r>
              <a:rPr b="1" lang="en-US" sz="3500">
                <a:solidFill>
                  <a:srgbClr val="253957"/>
                </a:solidFill>
              </a:rPr>
              <a:t>e</a:t>
            </a:r>
            <a:r>
              <a:rPr b="1" lang="en-US" sz="3500" cap="none">
                <a:solidFill>
                  <a:srgbClr val="253957"/>
                </a:solidFill>
              </a:rPr>
              <a:t>F</a:t>
            </a:r>
            <a:r>
              <a:rPr b="1" lang="en-US" sz="3500">
                <a:solidFill>
                  <a:srgbClr val="253957"/>
                </a:solidFill>
              </a:rPr>
              <a:t>i</a:t>
            </a:r>
            <a:r>
              <a:rPr b="1" lang="en-US" sz="3500" cap="none">
                <a:solidFill>
                  <a:srgbClr val="253957"/>
                </a:solidFill>
              </a:rPr>
              <a:t> M</a:t>
            </a:r>
            <a:r>
              <a:rPr b="1" lang="en-US" sz="3500">
                <a:solidFill>
                  <a:srgbClr val="253957"/>
                </a:solidFill>
              </a:rPr>
              <a:t>eets</a:t>
            </a:r>
            <a:r>
              <a:rPr b="1" lang="en-US" sz="3500" cap="none">
                <a:solidFill>
                  <a:srgbClr val="253957"/>
                </a:solidFill>
              </a:rPr>
              <a:t> C</a:t>
            </a:r>
            <a:r>
              <a:rPr b="1" lang="en-US" sz="3500">
                <a:solidFill>
                  <a:srgbClr val="253957"/>
                </a:solidFill>
              </a:rPr>
              <a:t>lassic</a:t>
            </a:r>
            <a:r>
              <a:rPr b="1" lang="en-US" sz="3500" cap="none">
                <a:solidFill>
                  <a:srgbClr val="253957"/>
                </a:solidFill>
              </a:rPr>
              <a:t> F</a:t>
            </a:r>
            <a:r>
              <a:rPr b="1" lang="en-US" sz="3500">
                <a:solidFill>
                  <a:srgbClr val="253957"/>
                </a:solidFill>
              </a:rPr>
              <a:t>inance</a:t>
            </a:r>
            <a:endParaRPr b="1" sz="3500">
              <a:solidFill>
                <a:schemeClr val="dk1"/>
              </a:solidFill>
            </a:endParaRPr>
          </a:p>
        </p:txBody>
      </p:sp>
      <p:pic>
        <p:nvPicPr>
          <p:cNvPr descr="Bank for International Settlements | Digital Watch Observatory" id="91" name="Google Shape;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8375" y="2135475"/>
            <a:ext cx="1526400" cy="152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ound (COMP) Цена, Графики, Рыночная капитализация | CoinMarketCap" id="92" name="Google Shape;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0884" y="2268213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ave (AAVE) Цена, Графики, Рыночная капитализация | CoinMarketCap" id="93" name="Google Shape;9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7048" y="2268213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r (@MakerDAO) / Twitter" id="94" name="Google Shape;9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3212" y="2268213"/>
            <a:ext cx="952500" cy="95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1"/>
          <p:cNvGrpSpPr/>
          <p:nvPr/>
        </p:nvGrpSpPr>
        <p:grpSpPr>
          <a:xfrm>
            <a:off x="892350" y="3641475"/>
            <a:ext cx="7341900" cy="2802275"/>
            <a:chOff x="931425" y="3502625"/>
            <a:chExt cx="7341900" cy="2802275"/>
          </a:xfrm>
        </p:grpSpPr>
        <p:pic>
          <p:nvPicPr>
            <p:cNvPr id="96" name="Google Shape;96;p11"/>
            <p:cNvPicPr preferRelativeResize="0"/>
            <p:nvPr/>
          </p:nvPicPr>
          <p:blipFill rotWithShape="1">
            <a:blip r:embed="rId7">
              <a:alphaModFix/>
            </a:blip>
            <a:srcRect b="0" l="4155" r="4919" t="0"/>
            <a:stretch/>
          </p:blipFill>
          <p:spPr>
            <a:xfrm>
              <a:off x="968550" y="3502625"/>
              <a:ext cx="7233781" cy="2391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1"/>
            <p:cNvSpPr txBox="1"/>
            <p:nvPr/>
          </p:nvSpPr>
          <p:spPr>
            <a:xfrm>
              <a:off x="931425" y="5920000"/>
              <a:ext cx="7341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75" lIns="45700" spcFirstLastPara="1" rIns="45700" wrap="square" tIns="228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[Nakamoto, S. (2008). Bitcoin: A Peer-to-Peer Electronic Cash System. </a:t>
              </a:r>
              <a:r>
                <a:rPr i="1" lang="en-US" sz="1100">
                  <a:solidFill>
                    <a:schemeClr val="dk1"/>
                  </a:solidFill>
                </a:rPr>
                <a:t>Www.Bitcoin.Org</a:t>
              </a:r>
              <a:r>
                <a:rPr lang="en-US" sz="1100">
                  <a:solidFill>
                    <a:schemeClr val="dk1"/>
                  </a:solidFill>
                </a:rPr>
                <a:t>, 1–9. https://bitcoin.org/bitcoin.pdf]</a:t>
              </a:r>
              <a:endParaRPr sz="1100"/>
            </a:p>
          </p:txBody>
        </p:sp>
      </p:grpSp>
      <p:sp>
        <p:nvSpPr>
          <p:cNvPr id="98" name="Google Shape;98;p11"/>
          <p:cNvSpPr txBox="1"/>
          <p:nvPr/>
        </p:nvSpPr>
        <p:spPr>
          <a:xfrm>
            <a:off x="1273350" y="1360875"/>
            <a:ext cx="964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</a:t>
            </a:r>
            <a:r>
              <a:rPr b="1" lang="en-US" sz="2000">
                <a:solidFill>
                  <a:schemeClr val="dk1"/>
                </a:solidFill>
              </a:rPr>
              <a:t>ecentralized Finance</a:t>
            </a:r>
            <a:r>
              <a:rPr lang="en-US" sz="2000">
                <a:solidFill>
                  <a:schemeClr val="dk1"/>
                </a:solidFill>
              </a:rPr>
              <a:t>: peer-to-peer financial services on public blockchains.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9" name="Google Shape;99;p11"/>
          <p:cNvSpPr txBox="1"/>
          <p:nvPr/>
        </p:nvSpPr>
        <p:spPr>
          <a:xfrm>
            <a:off x="8546000" y="3688475"/>
            <a:ext cx="36462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Parameters:</a:t>
            </a:r>
            <a:endParaRPr sz="700"/>
          </a:p>
          <a:p>
            <a:pPr indent="-298450" lvl="0" marL="292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Probability of default (PD) </a:t>
            </a:r>
            <a:endParaRPr sz="700"/>
          </a:p>
          <a:p>
            <a:pPr indent="-298450" lvl="0" marL="292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Loss Given Default (LGD)</a:t>
            </a:r>
            <a:endParaRPr sz="700"/>
          </a:p>
          <a:p>
            <a:pPr indent="-298450" lvl="0" marL="292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Liquidity coverage ratio 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(LCR)</a:t>
            </a:r>
            <a:endParaRPr sz="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Bank secrecy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968550" y="6378650"/>
            <a:ext cx="700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The loan mechanism on the Maker protocol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2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3063300" y="32589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Lending protocols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/>
          <p:nvPr/>
        </p:nvSpPr>
        <p:spPr>
          <a:xfrm>
            <a:off x="7102950" y="4122625"/>
            <a:ext cx="3559800" cy="956400"/>
          </a:xfrm>
          <a:prstGeom prst="rect">
            <a:avLst/>
          </a:prstGeom>
          <a:solidFill>
            <a:srgbClr val="AAC50B">
              <a:alpha val="52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7102950" y="2138925"/>
            <a:ext cx="4375200" cy="15264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799900" y="2138925"/>
            <a:ext cx="4930500" cy="12051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/>
        </p:nvSpPr>
        <p:spPr>
          <a:xfrm>
            <a:off x="886825" y="2302825"/>
            <a:ext cx="47898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 loans can be tokenized and regrouped into commodity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bank auditability by government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secondary market</a:t>
            </a:r>
            <a:endParaRPr sz="2400"/>
          </a:p>
        </p:txBody>
      </p:sp>
      <p:sp>
        <p:nvSpPr>
          <p:cNvPr id="111" name="Google Shape;111;p12"/>
          <p:cNvSpPr/>
          <p:nvPr/>
        </p:nvSpPr>
        <p:spPr>
          <a:xfrm>
            <a:off x="6000876" y="4336075"/>
            <a:ext cx="831600" cy="51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AC50B"/>
          </a:solidFill>
          <a:ln>
            <a:noFill/>
          </a:ln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7232927" y="2302830"/>
            <a:ext cx="4701300" cy="2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competitive tools for small investors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secondary market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Blockchain needed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065863" y="2484217"/>
            <a:ext cx="831600" cy="51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AC50B"/>
          </a:solidFill>
          <a:ln>
            <a:noFill/>
          </a:ln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Loan Portfolio Tokenization: Summary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799900" y="3838425"/>
            <a:ext cx="4930500" cy="16557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3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Portfolio Sold-Out: Problem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4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23" name="Google Shape;1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325" y="1722425"/>
            <a:ext cx="9421326" cy="32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1137900" y="5353500"/>
            <a:ext cx="99162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construct as many packages as possible for a given token set?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Portfolio Sold-Out: Objective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5/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1193400" y="5442100"/>
            <a:ext cx="98052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 matrix with the maximum possible number of columns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given restriction.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6800" y="1530462"/>
            <a:ext cx="7118401" cy="37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Portfolio Sold-Out: Notations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6/17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024103" y="1379644"/>
            <a:ext cx="10443600" cy="48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49" l="-1099" r="-1059" t="-1129"/>
            </a:stretch>
          </a:blipFill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 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Portfolio Sold-Out: Problem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7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405103" y="1303444"/>
            <a:ext cx="9612000" cy="530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79" r="-1349" t="-1249"/>
            </a:stretch>
          </a:blipFill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 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Portfolio Sold-Out: Special cases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8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57995" y="1886843"/>
            <a:ext cx="6053700" cy="308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309" l="-2139" r="0" t="-2159"/>
            </a:stretch>
          </a:blipFill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 </a:t>
            </a:r>
            <a:endParaRPr sz="800"/>
          </a:p>
        </p:txBody>
      </p:sp>
      <p:graphicFrame>
        <p:nvGraphicFramePr>
          <p:cNvPr id="154" name="Google Shape;154;p17"/>
          <p:cNvGraphicFramePr/>
          <p:nvPr/>
        </p:nvGraphicFramePr>
        <p:xfrm>
          <a:off x="6306911" y="22292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{3F77E4B9-CBAB-4056-B541-0760D870859A}</a:tableStyleId>
              </a:tblPr>
              <a:tblGrid>
                <a:gridCol w="1954900"/>
                <a:gridCol w="1759450"/>
                <a:gridCol w="1759450"/>
              </a:tblGrid>
              <a:tr h="40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27725" marB="27725" marR="55475" marL="55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Discrete</a:t>
                      </a:r>
                      <a:endParaRPr sz="2000" u="none" cap="none" strike="noStrike"/>
                    </a:p>
                  </a:txBody>
                  <a:tcPr marT="27725" marB="27725" marR="55475" marL="554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Continuous</a:t>
                      </a:r>
                      <a:endParaRPr sz="2000" u="none" cap="none" strike="noStrike"/>
                    </a:p>
                  </a:txBody>
                  <a:tcPr marT="27725" marB="27725" marR="55475" marL="55475" anchor="ctr"/>
                </a:tc>
              </a:tr>
              <a:tr h="665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Homogeneous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725" marB="27725" marR="55475" marL="5547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optimal</a:t>
                      </a:r>
                      <a:endParaRPr sz="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solution</a:t>
                      </a:r>
                      <a:endParaRPr sz="2000" u="none" cap="none" strike="noStrike"/>
                    </a:p>
                  </a:txBody>
                  <a:tcPr marT="27725" marB="27725" marR="55475" marL="55475" anchor="ctr">
                    <a:solidFill>
                      <a:srgbClr val="578D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optimal</a:t>
                      </a:r>
                      <a:endParaRPr sz="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solution</a:t>
                      </a:r>
                      <a:endParaRPr sz="2000" u="none" cap="none" strike="noStrike"/>
                    </a:p>
                  </a:txBody>
                  <a:tcPr marT="27725" marB="27725" marR="55475" marL="55475" anchor="ctr">
                    <a:solidFill>
                      <a:srgbClr val="578D33"/>
                    </a:solidFill>
                  </a:tcPr>
                </a:tc>
              </a:tr>
              <a:tr h="665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Independent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725" marB="27725" marR="55475" marL="5547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to be solved</a:t>
                      </a:r>
                      <a:endParaRPr sz="2000" u="none" cap="none" strike="noStrike"/>
                    </a:p>
                  </a:txBody>
                  <a:tcPr marT="27725" marB="27725" marR="55475" marL="55475" anchor="ctr"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to be solved</a:t>
                      </a:r>
                      <a:endParaRPr sz="2000" u="none" cap="none" strike="noStrike"/>
                    </a:p>
                  </a:txBody>
                  <a:tcPr marT="27725" marB="27725" marR="55475" marL="55475" anchor="ctr">
                    <a:solidFill>
                      <a:srgbClr val="E36C09"/>
                    </a:solidFill>
                  </a:tcPr>
                </a:tc>
              </a:tr>
              <a:tr h="665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725" marB="27725" marR="55475" marL="5547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to be solved</a:t>
                      </a:r>
                      <a:endParaRPr sz="2000" u="none" cap="none" strike="noStrike"/>
                    </a:p>
                  </a:txBody>
                  <a:tcPr marT="27725" marB="27725" marR="55475" marL="55475" anchor="ctr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numerical</a:t>
                      </a:r>
                      <a:endParaRPr sz="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solution</a:t>
                      </a:r>
                      <a:endParaRPr sz="2000" u="none" cap="none" strike="noStrike"/>
                    </a:p>
                  </a:txBody>
                  <a:tcPr marT="27725" marB="27725" marR="55475" marL="55475" anchor="ctr">
                    <a:solidFill>
                      <a:srgbClr val="C2D5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50" y="1341700"/>
            <a:ext cx="7881349" cy="48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292350" y="1570304"/>
            <a:ext cx="98943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281275" y="3988775"/>
            <a:ext cx="481800" cy="4818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4108025" y="4470575"/>
            <a:ext cx="481800" cy="4818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108025" y="2935475"/>
            <a:ext cx="481800" cy="4818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18"/>
          <p:cNvCxnSpPr>
            <a:stCxn id="163" idx="6"/>
            <a:endCxn id="165" idx="1"/>
          </p:cNvCxnSpPr>
          <p:nvPr/>
        </p:nvCxnSpPr>
        <p:spPr>
          <a:xfrm flipH="1" rot="10800000">
            <a:off x="4589825" y="2097875"/>
            <a:ext cx="4427400" cy="10785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8"/>
          <p:cNvSpPr txBox="1"/>
          <p:nvPr/>
        </p:nvSpPr>
        <p:spPr>
          <a:xfrm>
            <a:off x="9017125" y="1605325"/>
            <a:ext cx="2391000" cy="985200"/>
          </a:xfrm>
          <a:prstGeom prst="rect">
            <a:avLst/>
          </a:prstGeom>
          <a:solidFill>
            <a:srgbClr val="AAC50B">
              <a:alpha val="520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ilk.pip</a:t>
            </a:r>
            <a:r>
              <a:rPr lang="en-US" sz="1600"/>
              <a:t>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holds the current price of a given ilk (collateral)</a:t>
            </a:r>
            <a:endParaRPr sz="1600"/>
          </a:p>
        </p:txBody>
      </p:sp>
      <p:sp>
        <p:nvSpPr>
          <p:cNvPr id="166" name="Google Shape;166;p18"/>
          <p:cNvSpPr txBox="1"/>
          <p:nvPr/>
        </p:nvSpPr>
        <p:spPr>
          <a:xfrm>
            <a:off x="9017125" y="2956325"/>
            <a:ext cx="2391000" cy="1231500"/>
          </a:xfrm>
          <a:prstGeom prst="rect">
            <a:avLst/>
          </a:prstGeom>
          <a:solidFill>
            <a:srgbClr val="AAC50B">
              <a:alpha val="520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Vat</a:t>
            </a:r>
            <a:r>
              <a:rPr lang="en-US" sz="1600"/>
              <a:t>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stores Vaults and tracks all the associated Dai and Collateral balances </a:t>
            </a:r>
            <a:endParaRPr sz="1600"/>
          </a:p>
        </p:txBody>
      </p:sp>
      <p:sp>
        <p:nvSpPr>
          <p:cNvPr id="167" name="Google Shape;167;p18"/>
          <p:cNvSpPr txBox="1"/>
          <p:nvPr/>
        </p:nvSpPr>
        <p:spPr>
          <a:xfrm>
            <a:off x="9017125" y="4556525"/>
            <a:ext cx="2391000" cy="1231500"/>
          </a:xfrm>
          <a:prstGeom prst="rect">
            <a:avLst/>
          </a:prstGeom>
          <a:solidFill>
            <a:srgbClr val="AAC50B">
              <a:alpha val="520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Jug</a:t>
            </a:r>
            <a:r>
              <a:rPr lang="en-US" sz="1600"/>
              <a:t>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accumulate stability fees for a particular collateral type </a:t>
            </a:r>
            <a:endParaRPr sz="1600"/>
          </a:p>
        </p:txBody>
      </p:sp>
      <p:cxnSp>
        <p:nvCxnSpPr>
          <p:cNvPr id="168" name="Google Shape;168;p18"/>
          <p:cNvCxnSpPr>
            <a:stCxn id="161" idx="6"/>
            <a:endCxn id="166" idx="1"/>
          </p:cNvCxnSpPr>
          <p:nvPr/>
        </p:nvCxnSpPr>
        <p:spPr>
          <a:xfrm flipH="1" rot="10800000">
            <a:off x="5763075" y="3572075"/>
            <a:ext cx="3254100" cy="657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8"/>
          <p:cNvCxnSpPr>
            <a:stCxn id="162" idx="6"/>
            <a:endCxn id="167" idx="1"/>
          </p:cNvCxnSpPr>
          <p:nvPr/>
        </p:nvCxnSpPr>
        <p:spPr>
          <a:xfrm>
            <a:off x="4589825" y="4711475"/>
            <a:ext cx="4427400" cy="4608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18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MakerDao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9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3921300" y="6128550"/>
            <a:ext cx="434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MakerDao Structure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2640225" y="2143119"/>
            <a:ext cx="8487900" cy="11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Design and develop optimization method to obtain the optimal portfolio sold-out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2640225" y="4067325"/>
            <a:ext cx="871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Apply optimization method to the MakerDao dataset</a:t>
            </a:r>
            <a:endParaRPr sz="2800"/>
          </a:p>
        </p:txBody>
      </p:sp>
      <p:grpSp>
        <p:nvGrpSpPr>
          <p:cNvPr id="180" name="Google Shape;180;p19"/>
          <p:cNvGrpSpPr/>
          <p:nvPr/>
        </p:nvGrpSpPr>
        <p:grpSpPr>
          <a:xfrm>
            <a:off x="1067714" y="2159184"/>
            <a:ext cx="1344736" cy="1079100"/>
            <a:chOff x="1296314" y="1854384"/>
            <a:chExt cx="1344736" cy="1079100"/>
          </a:xfrm>
        </p:grpSpPr>
        <p:sp>
          <p:nvSpPr>
            <p:cNvPr id="181" name="Google Shape;181;p19"/>
            <p:cNvSpPr txBox="1"/>
            <p:nvPr/>
          </p:nvSpPr>
          <p:spPr>
            <a:xfrm>
              <a:off x="1296314" y="1854384"/>
              <a:ext cx="1179600" cy="10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01</a:t>
              </a:r>
              <a:endParaRPr sz="55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cxnSp>
          <p:nvCxnSpPr>
            <p:cNvPr id="182" name="Google Shape;182;p19"/>
            <p:cNvCxnSpPr/>
            <p:nvPr/>
          </p:nvCxnSpPr>
          <p:spPr>
            <a:xfrm>
              <a:off x="2641050" y="1956075"/>
              <a:ext cx="0" cy="805500"/>
            </a:xfrm>
            <a:prstGeom prst="straightConnector1">
              <a:avLst/>
            </a:prstGeom>
            <a:noFill/>
            <a:ln cap="flat" cmpd="sng" w="28575">
              <a:solidFill>
                <a:srgbClr val="AAC50B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3" name="Google Shape;183;p19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Objectives</a:t>
            </a:r>
            <a:endParaRPr b="1" sz="4000">
              <a:solidFill>
                <a:srgbClr val="253957"/>
              </a:solidFill>
            </a:endParaRPr>
          </a:p>
        </p:txBody>
      </p:sp>
      <p:grpSp>
        <p:nvGrpSpPr>
          <p:cNvPr id="184" name="Google Shape;184;p19"/>
          <p:cNvGrpSpPr/>
          <p:nvPr/>
        </p:nvGrpSpPr>
        <p:grpSpPr>
          <a:xfrm>
            <a:off x="1067714" y="3835584"/>
            <a:ext cx="1344736" cy="1079100"/>
            <a:chOff x="1296314" y="1854384"/>
            <a:chExt cx="1344736" cy="1079100"/>
          </a:xfrm>
        </p:grpSpPr>
        <p:sp>
          <p:nvSpPr>
            <p:cNvPr id="185" name="Google Shape;185;p19"/>
            <p:cNvSpPr txBox="1"/>
            <p:nvPr/>
          </p:nvSpPr>
          <p:spPr>
            <a:xfrm>
              <a:off x="1296314" y="1854384"/>
              <a:ext cx="1179600" cy="10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02</a:t>
              </a:r>
              <a:endParaRPr sz="55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cxnSp>
          <p:nvCxnSpPr>
            <p:cNvPr id="186" name="Google Shape;186;p19"/>
            <p:cNvCxnSpPr/>
            <p:nvPr/>
          </p:nvCxnSpPr>
          <p:spPr>
            <a:xfrm>
              <a:off x="2641050" y="1956075"/>
              <a:ext cx="0" cy="805500"/>
            </a:xfrm>
            <a:prstGeom prst="straightConnector1">
              <a:avLst/>
            </a:prstGeom>
            <a:noFill/>
            <a:ln cap="flat" cmpd="sng" w="28575">
              <a:solidFill>
                <a:srgbClr val="AAC50B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7" name="Google Shape;187;p19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10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772850" y="2032025"/>
            <a:ext cx="107535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Reduce portfolio sold-out to </a:t>
            </a:r>
            <a:r>
              <a:rPr lang="en-US" sz="2800"/>
              <a:t>Second-Order Cone Programming (SOCP)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Prepare MakerDao dataset for tokenization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Apply SOCP solver to portfolio sold-out problem</a:t>
            </a:r>
            <a:endParaRPr sz="2800"/>
          </a:p>
        </p:txBody>
      </p:sp>
      <p:sp>
        <p:nvSpPr>
          <p:cNvPr id="193" name="Google Shape;193;p20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11</a:t>
            </a:r>
            <a:r>
              <a:rPr lang="en-US" sz="1600">
                <a:solidFill>
                  <a:schemeClr val="dk2"/>
                </a:solidFill>
              </a:rPr>
              <a:t>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Methods</a:t>
            </a:r>
            <a:endParaRPr b="1" sz="4000">
              <a:solidFill>
                <a:srgbClr val="25395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12/17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Results:</a:t>
            </a:r>
            <a:r>
              <a:rPr b="1" lang="en-US" sz="3500">
                <a:solidFill>
                  <a:srgbClr val="253957"/>
                </a:solidFill>
              </a:rPr>
              <a:t> General Continuous</a:t>
            </a:r>
            <a:endParaRPr b="1" sz="3500">
              <a:solidFill>
                <a:srgbClr val="253957"/>
              </a:solidFill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327950"/>
            <a:ext cx="11481876" cy="5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9584" y="2844515"/>
            <a:ext cx="2414354" cy="25309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8943587" y="5426181"/>
            <a:ext cx="27681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LP: linear program, </a:t>
            </a:r>
            <a:endParaRPr b="0" i="0" sz="1200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QP: quadratic program, </a:t>
            </a:r>
            <a:endParaRPr b="0" i="0" sz="1200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SOCP second-order cone program, </a:t>
            </a:r>
            <a:endParaRPr b="0" i="0" sz="1200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SDP: semidefinite program, </a:t>
            </a:r>
            <a:endParaRPr b="0" i="0" sz="1200">
              <a:solidFill>
                <a:srgbClr val="2021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CP: cone program.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6759"/>
          <a:stretch/>
        </p:blipFill>
        <p:spPr>
          <a:xfrm>
            <a:off x="6215450" y="232300"/>
            <a:ext cx="3989387" cy="36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175" y="4328000"/>
            <a:ext cx="4226100" cy="212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title="ppp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500" y="4291950"/>
            <a:ext cx="4226100" cy="216618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1301800" y="6421100"/>
            <a:ext cx="39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 3: </a:t>
            </a:r>
            <a:r>
              <a:rPr lang="en-US"/>
              <a:t>Stability fee rate per year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494525" y="6421100"/>
            <a:ext cx="39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 4: </a:t>
            </a:r>
            <a:r>
              <a:rPr lang="en-US"/>
              <a:t>ETH/</a:t>
            </a:r>
            <a:r>
              <a:rPr lang="en-US">
                <a:solidFill>
                  <a:schemeClr val="dk1"/>
                </a:solidFill>
              </a:rPr>
              <a:t>DAI</a:t>
            </a:r>
            <a:r>
              <a:rPr lang="en-US"/>
              <a:t> rate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025388" y="3836238"/>
            <a:ext cx="436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 2: </a:t>
            </a:r>
            <a:r>
              <a:rPr lang="en-US"/>
              <a:t>Proportion</a:t>
            </a:r>
            <a:r>
              <a:rPr lang="en-US"/>
              <a:t> of each collateral type</a:t>
            </a:r>
            <a:endParaRPr/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5075" y="1098175"/>
            <a:ext cx="3776401" cy="298520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1233963" y="3912500"/>
            <a:ext cx="422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 1: Total number of each function name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Results:</a:t>
            </a:r>
            <a:r>
              <a:rPr b="1" lang="en-US" sz="3500">
                <a:solidFill>
                  <a:srgbClr val="253957"/>
                </a:solidFill>
              </a:rPr>
              <a:t> MakerDao Data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13/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325" y="1660062"/>
            <a:ext cx="5845699" cy="42564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Results:</a:t>
            </a:r>
            <a:r>
              <a:rPr b="1" lang="en-US" sz="3500">
                <a:solidFill>
                  <a:srgbClr val="253957"/>
                </a:solidFill>
              </a:rPr>
              <a:t> </a:t>
            </a:r>
            <a:r>
              <a:rPr b="1" lang="en-US" sz="3500">
                <a:solidFill>
                  <a:srgbClr val="253957"/>
                </a:solidFill>
              </a:rPr>
              <a:t>MakerDao for Portfolio Sold-Out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14/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933475" y="5753200"/>
            <a:ext cx="39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</a:t>
            </a:r>
            <a:r>
              <a:rPr lang="en-US">
                <a:solidFill>
                  <a:schemeClr val="dk1"/>
                </a:solidFill>
              </a:rPr>
              <a:t> 5</a:t>
            </a:r>
            <a:r>
              <a:rPr lang="en-US">
                <a:solidFill>
                  <a:schemeClr val="dk1"/>
                </a:solidFill>
              </a:rPr>
              <a:t>: </a:t>
            </a:r>
            <a:r>
              <a:rPr lang="en-US"/>
              <a:t>Probability and level of default</a:t>
            </a:r>
            <a:endParaRPr/>
          </a:p>
        </p:txBody>
      </p:sp>
      <p:grpSp>
        <p:nvGrpSpPr>
          <p:cNvPr id="226" name="Google Shape;226;p23"/>
          <p:cNvGrpSpPr/>
          <p:nvPr/>
        </p:nvGrpSpPr>
        <p:grpSpPr>
          <a:xfrm>
            <a:off x="655925" y="2462700"/>
            <a:ext cx="4447200" cy="1416000"/>
            <a:chOff x="655925" y="2462700"/>
            <a:chExt cx="4447200" cy="1416000"/>
          </a:xfrm>
        </p:grpSpPr>
        <p:sp>
          <p:nvSpPr>
            <p:cNvPr id="227" name="Google Shape;227;p23"/>
            <p:cNvSpPr txBox="1"/>
            <p:nvPr/>
          </p:nvSpPr>
          <p:spPr>
            <a:xfrm>
              <a:off x="655925" y="2462700"/>
              <a:ext cx="44472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/>
                <a:t>Daily data</a:t>
              </a:r>
              <a:endParaRPr b="1" sz="2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/>
                <a:t>A is </a:t>
              </a:r>
              <a:r>
                <a:rPr lang="en-US" sz="2000"/>
                <a:t>borrowers</a:t>
              </a:r>
              <a:r>
                <a:rPr lang="en-US" sz="2000"/>
                <a:t> with debt amounts.</a:t>
              </a:r>
              <a:endParaRPr sz="2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/>
                <a:t>K is a covariance for their defaults.</a:t>
              </a:r>
              <a:endParaRPr sz="2000"/>
            </a:p>
          </p:txBody>
        </p:sp>
        <p:pic>
          <p:nvPicPr>
            <p:cNvPr id="228" name="Google Shape;228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5925" y="3075250"/>
              <a:ext cx="287647" cy="400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/>
        </p:nvSpPr>
        <p:spPr>
          <a:xfrm>
            <a:off x="703175" y="5140145"/>
            <a:ext cx="499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Figure</a:t>
            </a:r>
            <a:r>
              <a:rPr lang="en-US" sz="1500">
                <a:solidFill>
                  <a:schemeClr val="dk1"/>
                </a:solidFill>
              </a:rPr>
              <a:t> 6</a:t>
            </a:r>
            <a:r>
              <a:rPr lang="en-US" sz="1500">
                <a:solidFill>
                  <a:schemeClr val="dk1"/>
                </a:solidFill>
              </a:rPr>
              <a:t>: 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Tokenized into commodity asset fractions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4" name="Google Shape;234;p24"/>
          <p:cNvGraphicFramePr/>
          <p:nvPr/>
        </p:nvGraphicFramePr>
        <p:xfrm>
          <a:off x="5829775" y="3136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{A300244E-FEE5-4FC1-9ED4-2814F74A55EC}</a:tableStyleId>
              </a:tblPr>
              <a:tblGrid>
                <a:gridCol w="4331075"/>
                <a:gridCol w="1780900"/>
              </a:tblGrid>
              <a:tr h="4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 Method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Tokenized fraction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Compact continuous with continuous algorithm * 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76.58 %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Special case </a:t>
                      </a: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continuous algorithm **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 40.01 %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Special case discrete algorithm **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13.65 %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24"/>
          <p:cNvSpPr txBox="1"/>
          <p:nvPr/>
        </p:nvSpPr>
        <p:spPr>
          <a:xfrm>
            <a:off x="5943600" y="2755822"/>
            <a:ext cx="499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Table: The tokenized fractions of different models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5517250" y="4911872"/>
            <a:ext cx="63756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 Solved by the metaheuristics Slime Mould Algorithm (SMA)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 Mis-Model assumption: independent with the same variance.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5753575" y="1733395"/>
            <a:ext cx="61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proportion of tokenized asset into the packages defines as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17884"/>
          <a:stretch/>
        </p:blipFill>
        <p:spPr>
          <a:xfrm>
            <a:off x="6438975" y="2131366"/>
            <a:ext cx="4239349" cy="43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825" y="1786205"/>
            <a:ext cx="5228808" cy="33539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53957"/>
                </a:solidFill>
              </a:rPr>
              <a:t>Baseline: MakerDAO dataset  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15/</a:t>
            </a:r>
            <a:r>
              <a:rPr lang="en-US" sz="1600">
                <a:solidFill>
                  <a:schemeClr val="dk2"/>
                </a:solidFill>
              </a:rPr>
              <a:t>17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1274950" y="1873925"/>
            <a:ext cx="9594600" cy="3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Portfolio sold-out problem is reduced to SOCP, which allows optimal numerical solution.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MakerDao DeFi protocol provides real loan dataset, which is impossible for classic banking system.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SOCP solver </a:t>
            </a:r>
            <a:r>
              <a:rPr b="1" lang="en-US" sz="2800">
                <a:solidFill>
                  <a:schemeClr val="dk1"/>
                </a:solidFill>
              </a:rPr>
              <a:t>will</a:t>
            </a:r>
            <a:r>
              <a:rPr lang="en-US" sz="2800">
                <a:solidFill>
                  <a:schemeClr val="dk1"/>
                </a:solidFill>
              </a:rPr>
              <a:t> be applied to the MakerDao dataset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Conclusions</a:t>
            </a:r>
            <a:endParaRPr b="1" sz="4000">
              <a:solidFill>
                <a:srgbClr val="253957"/>
              </a:solidFill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16/17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/>
          <p:nvPr/>
        </p:nvSpPr>
        <p:spPr>
          <a:xfrm>
            <a:off x="1502175" y="2827225"/>
            <a:ext cx="9230400" cy="1242000"/>
          </a:xfrm>
          <a:prstGeom prst="rect">
            <a:avLst/>
          </a:prstGeom>
          <a:solidFill>
            <a:srgbClr val="D1E84A">
              <a:alpha val="380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1554900" y="3105750"/>
            <a:ext cx="908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/>
              <a:t>To complete optimization part with solving SOCP.</a:t>
            </a:r>
            <a:endParaRPr i="1" sz="3000"/>
          </a:p>
        </p:txBody>
      </p:sp>
      <p:sp>
        <p:nvSpPr>
          <p:cNvPr id="257" name="Google Shape;257;p26"/>
          <p:cNvSpPr txBox="1"/>
          <p:nvPr/>
        </p:nvSpPr>
        <p:spPr>
          <a:xfrm>
            <a:off x="0" y="0"/>
            <a:ext cx="1219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5486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53957"/>
                </a:solidFill>
              </a:rPr>
              <a:t>Outlook:</a:t>
            </a:r>
            <a:r>
              <a:rPr b="1" lang="en-US" sz="3500">
                <a:solidFill>
                  <a:srgbClr val="253957"/>
                </a:solidFill>
              </a:rPr>
              <a:t> </a:t>
            </a:r>
            <a:r>
              <a:rPr b="1" lang="en-US" sz="3500">
                <a:solidFill>
                  <a:srgbClr val="253957"/>
                </a:solidFill>
              </a:rPr>
              <a:t>Planning</a:t>
            </a:r>
            <a:r>
              <a:rPr b="1" lang="en-US" sz="3500">
                <a:solidFill>
                  <a:srgbClr val="253957"/>
                </a:solidFill>
              </a:rPr>
              <a:t> to Achieve</a:t>
            </a:r>
            <a:r>
              <a:rPr b="1" lang="en-US" sz="3500">
                <a:solidFill>
                  <a:srgbClr val="253957"/>
                </a:solidFill>
              </a:rPr>
              <a:t>  </a:t>
            </a:r>
            <a:endParaRPr b="1" sz="3500">
              <a:solidFill>
                <a:srgbClr val="253957"/>
              </a:solidFill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10300608" y="6278196"/>
            <a:ext cx="1891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</a:rPr>
              <a:t>17/17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neral slides">
  <a:themeElements>
    <a:clrScheme name="Basic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