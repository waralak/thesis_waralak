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  <p:sldMasterId id="214748366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6858000" cx="12192000"/>
  <p:notesSz cx="6858000" cy="9144000"/>
  <p:embeddedFontLst>
    <p:embeddedFont>
      <p:font typeface="Arimo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Fjalla One"/>
      <p:regular r:id="rId45"/>
    </p:embeddedFont>
    <p:embeddedFont>
      <p:font typeface="Montserrat ExtraLight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8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EB1F70-52EF-4EB4-AD53-3C9FF0DFE4CE}">
  <a:tblStyle styleId="{58EB1F70-52EF-4EB4-AD53-3C9FF0DFE4CE}" styleName="Table_0">
    <a:wholeTbl>
      <a:tcTxStyle b="off" i="off">
        <a:font>
          <a:latin typeface="Bio Sans Light"/>
          <a:ea typeface="Bio Sans Light"/>
          <a:cs typeface="Bio Sans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Bio Sans Light"/>
          <a:ea typeface="Bio Sans Light"/>
          <a:cs typeface="Bio Sans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Bio Sans Light"/>
          <a:ea typeface="Bio Sans Light"/>
          <a:cs typeface="Bio Sans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Bio Sans Light"/>
          <a:ea typeface="Bio Sans Light"/>
          <a:cs typeface="Bio Sans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Bio Sans Light"/>
          <a:ea typeface="Bio Sans Light"/>
          <a:cs typeface="Bio Sans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0DEC8E7D-3430-4144-83CF-BDE5208A264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0AFA961-8208-44D3-B0AB-B7E489F0E400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81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MontserratExtraLight-regular.fntdata"/><Relationship Id="rId45" Type="http://schemas.openxmlformats.org/officeDocument/2006/relationships/font" Target="fonts/Fjalla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MontserratExtraLight-italic.fntdata"/><Relationship Id="rId47" Type="http://schemas.openxmlformats.org/officeDocument/2006/relationships/font" Target="fonts/MontserratExtraLight-bold.fntdata"/><Relationship Id="rId49" Type="http://schemas.openxmlformats.org/officeDocument/2006/relationships/font" Target="fonts/MontserratExtraLight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Arimo-regular.fntdata"/><Relationship Id="rId36" Type="http://schemas.openxmlformats.org/officeDocument/2006/relationships/slide" Target="slides/slide29.xml"/><Relationship Id="rId39" Type="http://schemas.openxmlformats.org/officeDocument/2006/relationships/font" Target="fonts/Arimo-italic.fntdata"/><Relationship Id="rId38" Type="http://schemas.openxmlformats.org/officeDocument/2006/relationships/font" Target="fonts/Arimo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17be2ce2d_0_1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g1e17be2ce2d_0_1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17be2ce2d_0_551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1e17be2ce2d_0_551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2f28948fe8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22f28948fe8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Phrases you may find useful: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The area of my research covers …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Today … has been already studied in the field.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22f28948fe8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17be2ce2d_0_118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1e17be2ce2d_0_118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17be2ce2d_0_181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1e17be2ce2d_0_181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e17be2ce2d_0_335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1e17be2ce2d_0_335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e17be2ce2d_0_341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1e17be2ce2d_0_341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e17be2ce2d_0_418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1e17be2ce2d_0_418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e17be2ce2d_0_1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1e17be2ce2d_0_1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n-US"/>
              <a:t>The overall purpose of the work is to … 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objectives of the present research run as follows: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1…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2…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3…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Design and develop optimization method to obtain the optimal portfolio sold-out 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2. Apply optimization method to the MakerDao dataset</a:t>
            </a:r>
            <a:endParaRPr/>
          </a:p>
        </p:txBody>
      </p:sp>
      <p:sp>
        <p:nvSpPr>
          <p:cNvPr id="302" name="Google Shape;3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f28948fe8_1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2f28948fe8_1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17be2ce2d_0_354:notes"/>
          <p:cNvSpPr txBox="1"/>
          <p:nvPr>
            <p:ph idx="1" type="body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</p:spPr>
        <p:txBody>
          <a:bodyPr anchorCtr="0" anchor="t" bIns="45425" lIns="45425" spcFirstLastPara="1" rIns="45425" wrap="square" tIns="4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1e17be2ce2d_0_354:notes"/>
          <p:cNvSpPr/>
          <p:nvPr>
            <p:ph idx="2" type="sldImg"/>
          </p:nvPr>
        </p:nvSpPr>
        <p:spPr>
          <a:xfrm>
            <a:off x="2271659" y="1143642"/>
            <a:ext cx="2314800" cy="3085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e17be2ce2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1e17be2ce2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2f28948fe8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22f28948fe8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3114389dfc_1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23114389dfc_1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2f28948fe8_1_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2f28948fe8_1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e17be2ce2d_0_12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1e17be2ce2d_0_12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17be2ce2d_0_1271:notes"/>
          <p:cNvSpPr txBox="1"/>
          <p:nvPr>
            <p:ph idx="1" type="body"/>
          </p:nvPr>
        </p:nvSpPr>
        <p:spPr>
          <a:xfrm>
            <a:off x="233943" y="3557997"/>
            <a:ext cx="18714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700" lIns="45425" spcFirstLastPara="1" rIns="45425" wrap="square" tIns="22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rPr lang="en-US" sz="700"/>
              <a:t>The compact continuous with continuous algorithm, 77% of initial assets are tokenized and allocated into packages which is the highest tokenized fraction. Following by continuous and discrete algorithm. </a:t>
            </a:r>
            <a:endParaRPr sz="700"/>
          </a:p>
        </p:txBody>
      </p:sp>
      <p:sp>
        <p:nvSpPr>
          <p:cNvPr id="395" name="Google Shape;395;g1e17be2ce2d_0_1271:notes"/>
          <p:cNvSpPr/>
          <p:nvPr>
            <p:ph idx="2" type="sldImg"/>
          </p:nvPr>
        </p:nvSpPr>
        <p:spPr>
          <a:xfrm>
            <a:off x="233877" y="924155"/>
            <a:ext cx="1871700" cy="2495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3114389df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23114389dfc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Phrases you may find useful: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All these results suggest that …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We can conclude that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Taken together, these results point to three conclusions …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To sum up,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Although it is still too early to draw a definite conclusion, it can be stated that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Although the obtained data are limited, we may conclude that </a:t>
            </a:r>
            <a:endParaRPr/>
          </a:p>
        </p:txBody>
      </p:sp>
      <p:sp>
        <p:nvSpPr>
          <p:cNvPr id="448" name="Google Shape;4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e17be2ce2d_0_1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1e17be2ce2d_0_1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Phrases you may find useful: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All these results suggest that …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We can conclude that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Taken together, these results point to three conclusions …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To sum up,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Although it is still too early to draw a definite conclusion, it can be stated that … </a:t>
            </a:r>
            <a:endParaRPr/>
          </a:p>
          <a:p>
            <a:pPr indent="-1714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Although the obtained data are limited, we may conclude that </a:t>
            </a:r>
            <a:endParaRPr/>
          </a:p>
        </p:txBody>
      </p:sp>
      <p:sp>
        <p:nvSpPr>
          <p:cNvPr id="460" name="Google Shape;460;g1e17be2ce2d_0_13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Phrases you may find useful: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The achieved results indicate that the work along the same line should proceed. Thus, the long-term results of the project are to …</a:t>
            </a:r>
            <a:endParaRPr i="1"/>
          </a:p>
          <a:p>
            <a:pPr indent="-82550" lvl="0" marL="400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4" name="Google Shape;4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Phrases you may find useful: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I would like to express my gratitude to … who &lt;provided smth /assisted in smth/ conducted smth/ etc.&gt;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i="1" lang="en-US"/>
              <a:t>Thank you for your attention. Now I’m ready to answer your </a:t>
            </a:r>
            <a:endParaRPr/>
          </a:p>
        </p:txBody>
      </p:sp>
      <p:sp>
        <p:nvSpPr>
          <p:cNvPr id="482" name="Google Shape;4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">
  <p:cSld name="Speak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body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body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/>
          <p:nvPr>
            <p:ph idx="4" type="pic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</p:sp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fmla="val 5396160" name="adj1"/>
              <a:gd fmla="val 10809062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ver+partners">
  <p:cSld name="2_Cover+partners">
    <p:bg>
      <p:bgPr>
        <a:solidFill>
          <a:srgbClr val="AAC50B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40050" l="0" r="0" t="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0" l="0" r="0"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" type="body"/>
          </p:nvPr>
        </p:nvSpPr>
        <p:spPr>
          <a:xfrm>
            <a:off x="1052215" y="635886"/>
            <a:ext cx="7977485" cy="4354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2" type="body"/>
          </p:nvPr>
        </p:nvSpPr>
        <p:spPr>
          <a:xfrm>
            <a:off x="1052215" y="5595431"/>
            <a:ext cx="2457467" cy="437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3" name="Google Shape;23;p3"/>
          <p:cNvCxnSpPr/>
          <p:nvPr/>
        </p:nvCxnSpPr>
        <p:spPr>
          <a:xfrm>
            <a:off x="5715001" y="5785757"/>
            <a:ext cx="5600700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peaker">
  <p:cSld name="1_Speak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952416" y="2047258"/>
            <a:ext cx="5803900" cy="1960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1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6116583" y="4190514"/>
            <a:ext cx="4639733" cy="394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body"/>
          </p:nvPr>
        </p:nvSpPr>
        <p:spPr>
          <a:xfrm>
            <a:off x="6116583" y="5117646"/>
            <a:ext cx="4639733" cy="138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/>
          <p:nvPr>
            <p:ph idx="4" type="pic"/>
          </p:nvPr>
        </p:nvSpPr>
        <p:spPr>
          <a:xfrm>
            <a:off x="1018584" y="1101667"/>
            <a:ext cx="3481387" cy="3482975"/>
          </a:xfrm>
          <a:prstGeom prst="rect">
            <a:avLst/>
          </a:prstGeom>
          <a:noFill/>
          <a:ln>
            <a:noFill/>
          </a:ln>
        </p:spPr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10194586" y="-1997414"/>
            <a:ext cx="3994827" cy="3994827"/>
          </a:xfrm>
          <a:prstGeom prst="pie">
            <a:avLst>
              <a:gd fmla="val 5396160" name="adj1"/>
              <a:gd fmla="val 10809062" name="adj2"/>
            </a:avLst>
          </a:prstGeom>
          <a:solidFill>
            <a:srgbClr val="AAC5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peaker: bio">
  <p:cSld name="1_Speaker: bi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3139624" y="365123"/>
            <a:ext cx="7847862" cy="6051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796243" y="2541481"/>
            <a:ext cx="884512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body"/>
          </p:nvPr>
        </p:nvSpPr>
        <p:spPr>
          <a:xfrm>
            <a:off x="796242" y="3493118"/>
            <a:ext cx="2159000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 rot="-5400000">
            <a:off x="8840264" y="2512345"/>
            <a:ext cx="5941050" cy="1646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00"/>
              <a:buFont typeface="Arial"/>
              <a:buNone/>
            </a:pPr>
            <a:r>
              <a:rPr b="1" i="0" lang="en-US" sz="101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 b="1" i="0" sz="10100" u="none" cap="none" strike="noStrike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>
            <p:ph idx="4" type="pic"/>
          </p:nvPr>
        </p:nvSpPr>
        <p:spPr>
          <a:xfrm>
            <a:off x="796242" y="365122"/>
            <a:ext cx="2060615" cy="2061555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5"/>
          <p:cNvSpPr txBox="1"/>
          <p:nvPr>
            <p:ph idx="5" type="body"/>
          </p:nvPr>
        </p:nvSpPr>
        <p:spPr>
          <a:xfrm>
            <a:off x="796242" y="2974142"/>
            <a:ext cx="1274488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act: basic">
  <p:cSld name="1_Contact: basic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en-US" sz="115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1" i="0" sz="11500" u="none" cap="none" strike="noStrike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 txBox="1"/>
          <p:nvPr>
            <p:ph idx="2" type="body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3" type="body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act: advanced">
  <p:cSld name="1_Contact: advanced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6772940"/>
            <a:ext cx="12192000" cy="8506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938280" y="1426345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 rot="-5400000">
            <a:off x="9019740" y="2400979"/>
            <a:ext cx="542969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</a:pPr>
            <a:r>
              <a:rPr b="1" i="0" lang="en-US" sz="115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rPr>
              <a:t>contact</a:t>
            </a:r>
            <a:endParaRPr b="1" i="0" sz="11500" u="none" cap="none" strike="noStrike">
              <a:solidFill>
                <a:srgbClr val="AAC5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 txBox="1"/>
          <p:nvPr/>
        </p:nvSpPr>
        <p:spPr>
          <a:xfrm>
            <a:off x="938280" y="86804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e-mail: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/>
        </p:nvSpPr>
        <p:spPr>
          <a:xfrm>
            <a:off x="938280" y="2514493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phone: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938280" y="3054843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938280" y="3983034"/>
            <a:ext cx="9865282" cy="648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AC50B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AAC50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7"/>
          <p:cNvSpPr txBox="1"/>
          <p:nvPr/>
        </p:nvSpPr>
        <p:spPr>
          <a:xfrm>
            <a:off x="938280" y="5980919"/>
            <a:ext cx="975360" cy="3693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social: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24312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2660" y="6029069"/>
            <a:ext cx="252042" cy="252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6910" y="6023543"/>
            <a:ext cx="252042" cy="25204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>
            <p:ph idx="4" type="body"/>
          </p:nvPr>
        </p:nvSpPr>
        <p:spPr>
          <a:xfrm>
            <a:off x="2667434" y="6002231"/>
            <a:ext cx="2383701" cy="2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body"/>
          </p:nvPr>
        </p:nvSpPr>
        <p:spPr>
          <a:xfrm>
            <a:off x="5713849" y="6002231"/>
            <a:ext cx="2547933" cy="2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body"/>
          </p:nvPr>
        </p:nvSpPr>
        <p:spPr>
          <a:xfrm>
            <a:off x="8839599" y="5980919"/>
            <a:ext cx="2541779" cy="29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5400000">
            <a:off x="-172868" y="5699770"/>
            <a:ext cx="1204330" cy="202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ver+partners">
  <p:cSld name="3_Cover+partners">
    <p:bg>
      <p:bgPr>
        <a:solidFill>
          <a:srgbClr val="AAC50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/>
        </p:nvSpPr>
        <p:spPr>
          <a:xfrm>
            <a:off x="921748" y="182880"/>
            <a:ext cx="9472204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00"/>
              <a:buFont typeface="Arial"/>
              <a:buNone/>
            </a:pPr>
            <a:r>
              <a:rPr b="1" i="0" lang="en-US" sz="1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thx.</a:t>
            </a:r>
            <a:endParaRPr b="1" i="0" sz="1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2">
            <a:alphaModFix/>
          </a:blip>
          <a:srcRect b="40050" l="0" r="0" t="0"/>
          <a:stretch/>
        </p:blipFill>
        <p:spPr>
          <a:xfrm rot="-5400000">
            <a:off x="9483100" y="2054836"/>
            <a:ext cx="3500015" cy="662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50017"/>
          <a:stretch/>
        </p:blipFill>
        <p:spPr>
          <a:xfrm>
            <a:off x="0" y="4133741"/>
            <a:ext cx="12192001" cy="27242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8"/>
          <p:cNvCxnSpPr/>
          <p:nvPr/>
        </p:nvCxnSpPr>
        <p:spPr>
          <a:xfrm>
            <a:off x="0" y="5785757"/>
            <a:ext cx="11315701" cy="0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2" name="Google Shape;72;p8"/>
          <p:cNvCxnSpPr/>
          <p:nvPr/>
        </p:nvCxnSpPr>
        <p:spPr>
          <a:xfrm>
            <a:off x="11283043" y="4310743"/>
            <a:ext cx="0" cy="1475014"/>
          </a:xfrm>
          <a:prstGeom prst="straightConnector1">
            <a:avLst/>
          </a:prstGeom>
          <a:noFill/>
          <a:ln cap="flat" cmpd="sng" w="57150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200">
          <p15:clr>
            <a:srgbClr val="FBAE40"/>
          </p15:clr>
        </p15:guide>
        <p15:guide id="2" orient="horz" pos="249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 type="tx">
  <p:cSld name="TITLE_AND_BODY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9900459" y="6459786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75" lIns="45700" spcFirstLastPara="1" rIns="45700" wrap="square" tIns="228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 sz="1100"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1128961" y="3158218"/>
            <a:ext cx="9933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541699" y="1510571"/>
            <a:ext cx="11108700" cy="46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8784896" y="6377940"/>
            <a:ext cx="279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1012791" y="656535"/>
            <a:ext cx="600900" cy="5544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 dir="5400000" dist="50800">
              <a:srgbClr val="000000">
                <a:alpha val="0"/>
              </a:srgbClr>
            </a:outerShdw>
          </a:effectLst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1"/>
          <p:cNvSpPr/>
          <p:nvPr>
            <p:ph idx="2" type="pic"/>
          </p:nvPr>
        </p:nvSpPr>
        <p:spPr>
          <a:xfrm>
            <a:off x="7352251" y="-1036"/>
            <a:ext cx="4839600" cy="6859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>
            <p:ph idx="1" type="body"/>
          </p:nvPr>
        </p:nvSpPr>
        <p:spPr>
          <a:xfrm>
            <a:off x="1718473" y="5033213"/>
            <a:ext cx="6364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 ExtraLight"/>
              <a:buNone/>
              <a:defRPr b="0" i="0" sz="1500">
                <a:latin typeface="Montserrat ExtraLight"/>
                <a:ea typeface="Montserrat ExtraLight"/>
                <a:cs typeface="Montserrat ExtraLight"/>
                <a:sym typeface="Montserrat ExtraLight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6" name="Google Shape;96;p12"/>
          <p:cNvSpPr txBox="1"/>
          <p:nvPr>
            <p:ph idx="2" type="body"/>
          </p:nvPr>
        </p:nvSpPr>
        <p:spPr>
          <a:xfrm>
            <a:off x="1718623" y="2974475"/>
            <a:ext cx="8700900" cy="158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3900"/>
              <a:buFont typeface="Montserrat"/>
              <a:buNone/>
              <a:defRPr b="1" i="0" sz="3900">
                <a:solidFill>
                  <a:srgbClr val="38383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3" type="body"/>
          </p:nvPr>
        </p:nvSpPr>
        <p:spPr>
          <a:xfrm>
            <a:off x="1731849" y="1594945"/>
            <a:ext cx="189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E617"/>
              </a:buClr>
              <a:buSzPts val="5600"/>
              <a:buFont typeface="Arial"/>
              <a:buNone/>
              <a:defRPr b="1" i="0" sz="5600">
                <a:solidFill>
                  <a:srgbClr val="A1E61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type="ctrTitle"/>
          </p:nvPr>
        </p:nvSpPr>
        <p:spPr>
          <a:xfrm>
            <a:off x="914400" y="2125980"/>
            <a:ext cx="10363200" cy="1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8778241" y="6377940"/>
            <a:ext cx="280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type="title"/>
          </p:nvPr>
        </p:nvSpPr>
        <p:spPr>
          <a:xfrm>
            <a:off x="1128961" y="3158218"/>
            <a:ext cx="9933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609600" y="1577340"/>
            <a:ext cx="53037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2" type="body"/>
          </p:nvPr>
        </p:nvSpPr>
        <p:spPr>
          <a:xfrm>
            <a:off x="6278880" y="1577340"/>
            <a:ext cx="53037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0" name="Google Shape;110;p14"/>
          <p:cNvSpPr txBox="1"/>
          <p:nvPr>
            <p:ph idx="12" type="sldNum"/>
          </p:nvPr>
        </p:nvSpPr>
        <p:spPr>
          <a:xfrm>
            <a:off x="8778241" y="6377940"/>
            <a:ext cx="280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1128961" y="3158218"/>
            <a:ext cx="9933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8778241" y="6377940"/>
            <a:ext cx="280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6710508" y="1513105"/>
            <a:ext cx="4580930" cy="4482560"/>
          </a:xfrm>
          <a:custGeom>
            <a:rect b="b" l="l" r="r" t="t"/>
            <a:pathLst>
              <a:path extrusionOk="0" h="7378700" w="7540625">
                <a:moveTo>
                  <a:pt x="0" y="7378696"/>
                </a:moveTo>
                <a:lnTo>
                  <a:pt x="7540293" y="7378696"/>
                </a:lnTo>
                <a:lnTo>
                  <a:pt x="7540293" y="0"/>
                </a:lnTo>
                <a:lnTo>
                  <a:pt x="0" y="0"/>
                </a:lnTo>
                <a:lnTo>
                  <a:pt x="0" y="737869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1143003" y="987322"/>
            <a:ext cx="226057" cy="75609"/>
          </a:xfrm>
          <a:custGeom>
            <a:rect b="b" l="l" r="r" t="t"/>
            <a:pathLst>
              <a:path extrusionOk="0" h="124460" w="372110">
                <a:moveTo>
                  <a:pt x="0" y="124460"/>
                </a:moveTo>
                <a:lnTo>
                  <a:pt x="372051" y="124460"/>
                </a:lnTo>
                <a:lnTo>
                  <a:pt x="372051" y="0"/>
                </a:lnTo>
                <a:lnTo>
                  <a:pt x="0" y="0"/>
                </a:lnTo>
                <a:lnTo>
                  <a:pt x="0" y="12446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1143003" y="912619"/>
            <a:ext cx="75609" cy="74837"/>
          </a:xfrm>
          <a:custGeom>
            <a:rect b="b" l="l" r="r" t="t"/>
            <a:pathLst>
              <a:path extrusionOk="0" h="123189" w="124460">
                <a:moveTo>
                  <a:pt x="0" y="123190"/>
                </a:moveTo>
                <a:lnTo>
                  <a:pt x="124006" y="123190"/>
                </a:lnTo>
                <a:lnTo>
                  <a:pt x="124006" y="0"/>
                </a:lnTo>
                <a:lnTo>
                  <a:pt x="0" y="0"/>
                </a:lnTo>
                <a:lnTo>
                  <a:pt x="0" y="12319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1293421" y="912619"/>
            <a:ext cx="75609" cy="74837"/>
          </a:xfrm>
          <a:custGeom>
            <a:rect b="b" l="l" r="r" t="t"/>
            <a:pathLst>
              <a:path extrusionOk="0" h="123189" w="124460">
                <a:moveTo>
                  <a:pt x="0" y="123190"/>
                </a:moveTo>
                <a:lnTo>
                  <a:pt x="124017" y="123190"/>
                </a:lnTo>
                <a:lnTo>
                  <a:pt x="124017" y="0"/>
                </a:lnTo>
                <a:lnTo>
                  <a:pt x="0" y="0"/>
                </a:lnTo>
                <a:lnTo>
                  <a:pt x="0" y="12319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1218206" y="837147"/>
            <a:ext cx="150833" cy="75609"/>
          </a:xfrm>
          <a:custGeom>
            <a:rect b="b" l="l" r="r" t="t"/>
            <a:pathLst>
              <a:path extrusionOk="0" h="124459" w="248285">
                <a:moveTo>
                  <a:pt x="0" y="124460"/>
                </a:moveTo>
                <a:lnTo>
                  <a:pt x="248044" y="124460"/>
                </a:lnTo>
                <a:lnTo>
                  <a:pt x="248044" y="0"/>
                </a:lnTo>
                <a:lnTo>
                  <a:pt x="0" y="0"/>
                </a:lnTo>
                <a:lnTo>
                  <a:pt x="0" y="12446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1143006" y="761946"/>
            <a:ext cx="75609" cy="75609"/>
          </a:xfrm>
          <a:custGeom>
            <a:rect b="b" l="l" r="r" t="t"/>
            <a:pathLst>
              <a:path extrusionOk="0" h="124459" w="124460">
                <a:moveTo>
                  <a:pt x="0" y="124006"/>
                </a:moveTo>
                <a:lnTo>
                  <a:pt x="124017" y="124006"/>
                </a:lnTo>
                <a:lnTo>
                  <a:pt x="124017" y="0"/>
                </a:lnTo>
                <a:lnTo>
                  <a:pt x="0" y="0"/>
                </a:lnTo>
                <a:lnTo>
                  <a:pt x="0" y="124006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778241" y="6377940"/>
            <a:ext cx="280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rt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">
  <p:cSld name="Speaker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6772940"/>
            <a:ext cx="12192000" cy="85200"/>
          </a:xfrm>
          <a:prstGeom prst="rect">
            <a:avLst/>
          </a:prstGeom>
          <a:solidFill>
            <a:srgbClr val="AAC5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4952416" y="2047258"/>
            <a:ext cx="5804100" cy="19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6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7"/>
          <p:cNvSpPr txBox="1"/>
          <p:nvPr>
            <p:ph idx="2" type="body"/>
          </p:nvPr>
        </p:nvSpPr>
        <p:spPr>
          <a:xfrm>
            <a:off x="6116584" y="4190514"/>
            <a:ext cx="4639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7"/>
          <p:cNvSpPr txBox="1"/>
          <p:nvPr>
            <p:ph idx="3" type="body"/>
          </p:nvPr>
        </p:nvSpPr>
        <p:spPr>
          <a:xfrm>
            <a:off x="6116584" y="5117646"/>
            <a:ext cx="4639500" cy="13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17"/>
          <p:cNvSpPr/>
          <p:nvPr>
            <p:ph idx="4" type="pic"/>
          </p:nvPr>
        </p:nvSpPr>
        <p:spPr>
          <a:xfrm>
            <a:off x="1018584" y="1101667"/>
            <a:ext cx="3481200" cy="3482700"/>
          </a:xfrm>
          <a:prstGeom prst="rect">
            <a:avLst/>
          </a:prstGeom>
          <a:noFill/>
          <a:ln>
            <a:noFill/>
          </a:ln>
        </p:spPr>
      </p:sp>
      <p:pic>
        <p:nvPicPr>
          <p:cNvPr id="132" name="Google Shape;13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-5400000">
            <a:off x="-172875" y="5699778"/>
            <a:ext cx="1204330" cy="20205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/>
          <p:nvPr/>
        </p:nvSpPr>
        <p:spPr>
          <a:xfrm>
            <a:off x="10194587" y="-1997414"/>
            <a:ext cx="3994800" cy="3994800"/>
          </a:xfrm>
          <a:prstGeom prst="pie">
            <a:avLst>
              <a:gd fmla="val 5396160" name="adj1"/>
              <a:gd fmla="val 10809062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11409045" y="6333134"/>
            <a:ext cx="731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55425" lIns="55425" spcFirstLastPara="1" rIns="55425" wrap="square" tIns="55425">
            <a:noAutofit/>
          </a:bodyPr>
          <a:lstStyle>
            <a:lvl1pPr indent="0" lvl="0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rtl="0" algn="r"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143003" y="987323"/>
            <a:ext cx="226057" cy="75609"/>
          </a:xfrm>
          <a:custGeom>
            <a:rect b="b" l="l" r="r" t="t"/>
            <a:pathLst>
              <a:path extrusionOk="0" h="124460" w="372110">
                <a:moveTo>
                  <a:pt x="0" y="124460"/>
                </a:moveTo>
                <a:lnTo>
                  <a:pt x="372051" y="124460"/>
                </a:lnTo>
                <a:lnTo>
                  <a:pt x="372051" y="0"/>
                </a:lnTo>
                <a:lnTo>
                  <a:pt x="0" y="0"/>
                </a:lnTo>
                <a:lnTo>
                  <a:pt x="0" y="12446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1143003" y="912621"/>
            <a:ext cx="75609" cy="74837"/>
          </a:xfrm>
          <a:custGeom>
            <a:rect b="b" l="l" r="r" t="t"/>
            <a:pathLst>
              <a:path extrusionOk="0" h="123189" w="124460">
                <a:moveTo>
                  <a:pt x="0" y="123190"/>
                </a:moveTo>
                <a:lnTo>
                  <a:pt x="124006" y="123190"/>
                </a:lnTo>
                <a:lnTo>
                  <a:pt x="124006" y="0"/>
                </a:lnTo>
                <a:lnTo>
                  <a:pt x="0" y="0"/>
                </a:lnTo>
                <a:lnTo>
                  <a:pt x="0" y="12319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1293421" y="912621"/>
            <a:ext cx="75609" cy="74837"/>
          </a:xfrm>
          <a:custGeom>
            <a:rect b="b" l="l" r="r" t="t"/>
            <a:pathLst>
              <a:path extrusionOk="0" h="123189" w="124460">
                <a:moveTo>
                  <a:pt x="0" y="123190"/>
                </a:moveTo>
                <a:lnTo>
                  <a:pt x="124017" y="123190"/>
                </a:lnTo>
                <a:lnTo>
                  <a:pt x="124017" y="0"/>
                </a:lnTo>
                <a:lnTo>
                  <a:pt x="0" y="0"/>
                </a:lnTo>
                <a:lnTo>
                  <a:pt x="0" y="12319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1218206" y="837148"/>
            <a:ext cx="150833" cy="75609"/>
          </a:xfrm>
          <a:custGeom>
            <a:rect b="b" l="l" r="r" t="t"/>
            <a:pathLst>
              <a:path extrusionOk="0" h="124459" w="248285">
                <a:moveTo>
                  <a:pt x="0" y="124460"/>
                </a:moveTo>
                <a:lnTo>
                  <a:pt x="248044" y="124460"/>
                </a:lnTo>
                <a:lnTo>
                  <a:pt x="248044" y="0"/>
                </a:lnTo>
                <a:lnTo>
                  <a:pt x="0" y="0"/>
                </a:lnTo>
                <a:lnTo>
                  <a:pt x="0" y="124460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/>
          <p:nvPr/>
        </p:nvSpPr>
        <p:spPr>
          <a:xfrm>
            <a:off x="1143006" y="761946"/>
            <a:ext cx="75609" cy="75609"/>
          </a:xfrm>
          <a:custGeom>
            <a:rect b="b" l="l" r="r" t="t"/>
            <a:pathLst>
              <a:path extrusionOk="0" h="124459" w="124460">
                <a:moveTo>
                  <a:pt x="0" y="124006"/>
                </a:moveTo>
                <a:lnTo>
                  <a:pt x="124017" y="124006"/>
                </a:lnTo>
                <a:lnTo>
                  <a:pt x="124017" y="0"/>
                </a:lnTo>
                <a:lnTo>
                  <a:pt x="0" y="0"/>
                </a:lnTo>
                <a:lnTo>
                  <a:pt x="0" y="124006"/>
                </a:lnTo>
                <a:close/>
              </a:path>
            </a:pathLst>
          </a:custGeom>
          <a:solidFill>
            <a:srgbClr val="FEBD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128961" y="3158218"/>
            <a:ext cx="99339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None/>
              <a:defRPr sz="1100"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541699" y="1510571"/>
            <a:ext cx="11108700" cy="46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8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8778241" y="6377940"/>
            <a:ext cx="2804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u="non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jp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/>
        </p:nvSpPr>
        <p:spPr>
          <a:xfrm>
            <a:off x="7534123" y="907624"/>
            <a:ext cx="2493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MSc Program</a:t>
            </a:r>
            <a:endParaRPr b="0" i="1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1531800" y="1890775"/>
            <a:ext cx="91284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Portfolio Sold-Out Problem in Numbers</a:t>
            </a:r>
            <a:endParaRPr sz="40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for DeFi Lending Protocols</a:t>
            </a:r>
            <a:endParaRPr sz="4000"/>
          </a:p>
        </p:txBody>
      </p:sp>
      <p:sp>
        <p:nvSpPr>
          <p:cNvPr id="141" name="Google Shape;141;p18"/>
          <p:cNvSpPr txBox="1"/>
          <p:nvPr/>
        </p:nvSpPr>
        <p:spPr>
          <a:xfrm>
            <a:off x="3695967" y="3528403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Student: 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Waralak Pariwatphan</a:t>
            </a:r>
            <a:endParaRPr sz="2000"/>
          </a:p>
          <a:p>
            <a:pPr indent="-228600" lvl="0" marL="45720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Advisor: </a:t>
            </a:r>
            <a:r>
              <a:rPr i="1" lang="en-US" sz="2000">
                <a:solidFill>
                  <a:schemeClr val="dk1"/>
                </a:solidFill>
              </a:rPr>
              <a:t>Yury Yanovich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3204795" y="5938164"/>
            <a:ext cx="6400800" cy="340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00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April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000">
                <a:solidFill>
                  <a:srgbClr val="595959"/>
                </a:solidFill>
                <a:latin typeface="Arimo"/>
                <a:ea typeface="Arimo"/>
                <a:cs typeface="Arimo"/>
                <a:sym typeface="Arimo"/>
              </a:rPr>
              <a:t>2023</a:t>
            </a:r>
            <a:endParaRPr b="0" i="0" sz="2000" u="none" cap="none" strike="noStrike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595959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10300608" y="6278196"/>
            <a:ext cx="1891392" cy="340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1/xx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8023122" y="158455"/>
            <a:ext cx="37854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Приложение 4 / Appendix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/>
        </p:nvSpPr>
        <p:spPr>
          <a:xfrm>
            <a:off x="1" y="815975"/>
            <a:ext cx="11224500" cy="11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700" lIns="35700" spcFirstLastPara="1" rIns="35700" wrap="square" tIns="3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 cap="none">
                <a:solidFill>
                  <a:srgbClr val="253957"/>
                </a:solidFill>
                <a:latin typeface="Calibri"/>
                <a:ea typeface="Calibri"/>
                <a:cs typeface="Calibri"/>
                <a:sym typeface="Calibri"/>
              </a:rPr>
              <a:t>DEFI MEETS CLASSIC FINANCE</a:t>
            </a:r>
            <a:endParaRPr b="1" sz="3500" cap="none">
              <a:solidFill>
                <a:srgbClr val="25395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5669372" y="471182"/>
            <a:ext cx="56832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700" lIns="35700" spcFirstLastPara="1" rIns="35700" wrap="square" tIns="3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539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9912424" y="6489402"/>
            <a:ext cx="131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75" lIns="45700" spcFirstLastPara="1" rIns="45700" wrap="square" tIns="228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3292001" y="6759658"/>
            <a:ext cx="5323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loan mechanism on the Maker protocol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nk for International Settlements | Digital Watch Observatory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2324" y="1735078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7860196" y="3078871"/>
            <a:ext cx="3917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Parameters:</a:t>
            </a:r>
            <a:endParaRPr sz="700"/>
          </a:p>
          <a:p>
            <a:pPr indent="-29845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Probability of default (PD) </a:t>
            </a:r>
            <a:endParaRPr sz="700"/>
          </a:p>
          <a:p>
            <a:pPr indent="-29845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Loss Given Default (LGD)</a:t>
            </a:r>
            <a:endParaRPr sz="700"/>
          </a:p>
          <a:p>
            <a:pPr indent="-29845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Liquidity coverage ratio (LCR)</a:t>
            </a:r>
            <a:endParaRPr sz="7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 secrecy.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92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mpound (COMP) Цена, Графики, Рыночная капитализация | CoinMarketCap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746" y="2233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ave (AAVE) Цена, Графики, Рыночная капитализация | CoinMarketCap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8910" y="2233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ker (@MakerDAO) / Twitter" id="157" name="Google Shape;15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5074" y="223312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7874" y="3993569"/>
            <a:ext cx="5934096" cy="178371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931423" y="6072397"/>
            <a:ext cx="59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75" lIns="45700" spcFirstLastPara="1" rIns="45700" wrap="square" tIns="228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[Nakamoto, S. (2008). Bitcoin: A Peer-to-Peer Electronic Cash System. </a:t>
            </a: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Www.Bitcoin.Org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1–9. https://bitcoin.org/bitcoin.pdf]</a:t>
            </a:r>
            <a:endParaRPr sz="700"/>
          </a:p>
        </p:txBody>
      </p:sp>
      <p:sp>
        <p:nvSpPr>
          <p:cNvPr id="160" name="Google Shape;160;p19"/>
          <p:cNvSpPr txBox="1"/>
          <p:nvPr/>
        </p:nvSpPr>
        <p:spPr>
          <a:xfrm>
            <a:off x="795775" y="1526375"/>
            <a:ext cx="799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decentralized finance</a:t>
            </a:r>
            <a:r>
              <a:rPr lang="en-US" sz="1700">
                <a:solidFill>
                  <a:schemeClr val="dk1"/>
                </a:solidFill>
              </a:rPr>
              <a:t>: peer-to-peer financial services on public blockchains.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2" type="sldNum"/>
          </p:nvPr>
        </p:nvSpPr>
        <p:spPr>
          <a:xfrm>
            <a:off x="11502686" y="286873"/>
            <a:ext cx="36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166" name="Google Shape;166;p20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 Loan Portfolio Tokenization: Summary</a:t>
            </a:r>
            <a:endParaRPr sz="800"/>
          </a:p>
        </p:txBody>
      </p:sp>
      <p:sp>
        <p:nvSpPr>
          <p:cNvPr id="167" name="Google Shape;167;p20"/>
          <p:cNvSpPr txBox="1"/>
          <p:nvPr/>
        </p:nvSpPr>
        <p:spPr>
          <a:xfrm>
            <a:off x="886830" y="2643468"/>
            <a:ext cx="4701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sp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 loans can be tokenized and regrouped into commodity</a:t>
            </a:r>
            <a:endParaRPr sz="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bank auditability by government</a:t>
            </a:r>
            <a:endParaRPr sz="800"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secondary market</a:t>
            </a:r>
            <a:endParaRPr sz="800"/>
          </a:p>
        </p:txBody>
      </p:sp>
      <p:sp>
        <p:nvSpPr>
          <p:cNvPr id="168" name="Google Shape;168;p20"/>
          <p:cNvSpPr/>
          <p:nvPr/>
        </p:nvSpPr>
        <p:spPr>
          <a:xfrm>
            <a:off x="4953397" y="4015242"/>
            <a:ext cx="535500" cy="13083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5772276" y="4412275"/>
            <a:ext cx="831600" cy="51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7490902" y="2478330"/>
            <a:ext cx="4701300" cy="2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sp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competitive tools for small investors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 secondary market</a:t>
            </a:r>
            <a:endParaRPr sz="800"/>
          </a:p>
          <a:p>
            <a:pPr indent="-2032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100"/>
              <a:buFont typeface="Arial"/>
              <a:buChar char="•"/>
            </a:pPr>
            <a:r>
              <a:rPr lang="en-US" sz="21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Blockchain needed</a:t>
            </a:r>
            <a:endParaRPr sz="800"/>
          </a:p>
        </p:txBody>
      </p:sp>
      <p:sp>
        <p:nvSpPr>
          <p:cNvPr id="171" name="Google Shape;171;p20"/>
          <p:cNvSpPr/>
          <p:nvPr/>
        </p:nvSpPr>
        <p:spPr>
          <a:xfrm>
            <a:off x="5772276" y="2843417"/>
            <a:ext cx="831600" cy="514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/>
          <p:nvPr/>
        </p:nvSpPr>
        <p:spPr>
          <a:xfrm flipH="1">
            <a:off x="7011802" y="2446384"/>
            <a:ext cx="479100" cy="1308300"/>
          </a:xfrm>
          <a:prstGeom prst="rightBrace">
            <a:avLst>
              <a:gd fmla="val 8333" name="adj1"/>
              <a:gd fmla="val 49316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00" lIns="55425" spcFirstLastPara="1" rIns="55425" wrap="square" tIns="27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problem / Introduction /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Background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21"/>
          <p:cNvGrpSpPr/>
          <p:nvPr/>
        </p:nvGrpSpPr>
        <p:grpSpPr>
          <a:xfrm>
            <a:off x="1184650" y="1729377"/>
            <a:ext cx="9539025" cy="3387048"/>
            <a:chOff x="1184650" y="1729377"/>
            <a:chExt cx="9539025" cy="3387048"/>
          </a:xfrm>
        </p:grpSpPr>
        <p:grpSp>
          <p:nvGrpSpPr>
            <p:cNvPr id="180" name="Google Shape;180;p21"/>
            <p:cNvGrpSpPr/>
            <p:nvPr/>
          </p:nvGrpSpPr>
          <p:grpSpPr>
            <a:xfrm>
              <a:off x="1820529" y="2222595"/>
              <a:ext cx="1390891" cy="1661240"/>
              <a:chOff x="-62496925" y="1931475"/>
              <a:chExt cx="275675" cy="316825"/>
            </a:xfrm>
          </p:grpSpPr>
          <p:sp>
            <p:nvSpPr>
              <p:cNvPr id="181" name="Google Shape;181;p21"/>
              <p:cNvSpPr/>
              <p:nvPr/>
            </p:nvSpPr>
            <p:spPr>
              <a:xfrm>
                <a:off x="-62496925" y="1931475"/>
                <a:ext cx="275675" cy="316825"/>
              </a:xfrm>
              <a:custGeom>
                <a:rect b="b" l="l" r="r" t="t"/>
                <a:pathLst>
                  <a:path extrusionOk="0" h="12673" w="11027">
                    <a:moveTo>
                      <a:pt x="5514" y="1047"/>
                    </a:moveTo>
                    <a:cubicBezTo>
                      <a:pt x="6238" y="1519"/>
                      <a:pt x="7215" y="1834"/>
                      <a:pt x="8003" y="1834"/>
                    </a:cubicBezTo>
                    <a:cubicBezTo>
                      <a:pt x="8538" y="1834"/>
                      <a:pt x="9294" y="1708"/>
                      <a:pt x="10208" y="1204"/>
                    </a:cubicBezTo>
                    <a:lnTo>
                      <a:pt x="10208" y="5237"/>
                    </a:lnTo>
                    <a:cubicBezTo>
                      <a:pt x="10177" y="8198"/>
                      <a:pt x="8349" y="10845"/>
                      <a:pt x="5514" y="11821"/>
                    </a:cubicBezTo>
                    <a:cubicBezTo>
                      <a:pt x="2710" y="10845"/>
                      <a:pt x="820" y="8198"/>
                      <a:pt x="820" y="5237"/>
                    </a:cubicBezTo>
                    <a:lnTo>
                      <a:pt x="820" y="1204"/>
                    </a:lnTo>
                    <a:cubicBezTo>
                      <a:pt x="1513" y="1582"/>
                      <a:pt x="2269" y="1834"/>
                      <a:pt x="3025" y="1834"/>
                    </a:cubicBezTo>
                    <a:cubicBezTo>
                      <a:pt x="3844" y="1834"/>
                      <a:pt x="4758" y="1551"/>
                      <a:pt x="5514" y="1047"/>
                    </a:cubicBezTo>
                    <a:close/>
                    <a:moveTo>
                      <a:pt x="10654" y="1"/>
                    </a:moveTo>
                    <a:cubicBezTo>
                      <a:pt x="10567" y="1"/>
                      <a:pt x="10476" y="33"/>
                      <a:pt x="10397" y="102"/>
                    </a:cubicBezTo>
                    <a:cubicBezTo>
                      <a:pt x="9389" y="826"/>
                      <a:pt x="8538" y="952"/>
                      <a:pt x="8034" y="952"/>
                    </a:cubicBezTo>
                    <a:cubicBezTo>
                      <a:pt x="7310" y="952"/>
                      <a:pt x="6396" y="637"/>
                      <a:pt x="5766" y="165"/>
                    </a:cubicBezTo>
                    <a:cubicBezTo>
                      <a:pt x="5703" y="102"/>
                      <a:pt x="5616" y="70"/>
                      <a:pt x="5526" y="70"/>
                    </a:cubicBezTo>
                    <a:cubicBezTo>
                      <a:pt x="5435" y="70"/>
                      <a:pt x="5341" y="102"/>
                      <a:pt x="5262" y="165"/>
                    </a:cubicBezTo>
                    <a:cubicBezTo>
                      <a:pt x="4632" y="637"/>
                      <a:pt x="3781" y="952"/>
                      <a:pt x="3025" y="952"/>
                    </a:cubicBezTo>
                    <a:cubicBezTo>
                      <a:pt x="2237" y="952"/>
                      <a:pt x="1450" y="637"/>
                      <a:pt x="662" y="102"/>
                    </a:cubicBezTo>
                    <a:cubicBezTo>
                      <a:pt x="582" y="40"/>
                      <a:pt x="495" y="13"/>
                      <a:pt x="411" y="13"/>
                    </a:cubicBezTo>
                    <a:cubicBezTo>
                      <a:pt x="196" y="13"/>
                      <a:pt x="0" y="190"/>
                      <a:pt x="0" y="417"/>
                    </a:cubicBezTo>
                    <a:lnTo>
                      <a:pt x="0" y="5237"/>
                    </a:lnTo>
                    <a:cubicBezTo>
                      <a:pt x="0" y="8608"/>
                      <a:pt x="2080" y="11601"/>
                      <a:pt x="5388" y="12641"/>
                    </a:cubicBezTo>
                    <a:cubicBezTo>
                      <a:pt x="5419" y="12641"/>
                      <a:pt x="5451" y="12672"/>
                      <a:pt x="5514" y="12672"/>
                    </a:cubicBezTo>
                    <a:cubicBezTo>
                      <a:pt x="5545" y="12672"/>
                      <a:pt x="5577" y="12672"/>
                      <a:pt x="5640" y="12641"/>
                    </a:cubicBezTo>
                    <a:cubicBezTo>
                      <a:pt x="8979" y="11538"/>
                      <a:pt x="11027" y="8513"/>
                      <a:pt x="11027" y="5237"/>
                    </a:cubicBezTo>
                    <a:lnTo>
                      <a:pt x="11027" y="417"/>
                    </a:lnTo>
                    <a:cubicBezTo>
                      <a:pt x="11027" y="157"/>
                      <a:pt x="10848" y="1"/>
                      <a:pt x="1065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1"/>
              <p:cNvSpPr/>
              <p:nvPr/>
            </p:nvSpPr>
            <p:spPr>
              <a:xfrm>
                <a:off x="-62390600" y="2016700"/>
                <a:ext cx="63025" cy="146525"/>
              </a:xfrm>
              <a:custGeom>
                <a:rect b="b" l="l" r="r" t="t"/>
                <a:pathLst>
                  <a:path extrusionOk="0" h="5861" w="2521">
                    <a:moveTo>
                      <a:pt x="1261" y="1"/>
                    </a:moveTo>
                    <a:cubicBezTo>
                      <a:pt x="1009" y="1"/>
                      <a:pt x="820" y="190"/>
                      <a:pt x="820" y="410"/>
                    </a:cubicBezTo>
                    <a:lnTo>
                      <a:pt x="820" y="694"/>
                    </a:lnTo>
                    <a:cubicBezTo>
                      <a:pt x="347" y="851"/>
                      <a:pt x="1" y="1324"/>
                      <a:pt x="1" y="1891"/>
                    </a:cubicBezTo>
                    <a:cubicBezTo>
                      <a:pt x="1" y="2553"/>
                      <a:pt x="536" y="2931"/>
                      <a:pt x="977" y="3246"/>
                    </a:cubicBezTo>
                    <a:cubicBezTo>
                      <a:pt x="1292" y="3498"/>
                      <a:pt x="1639" y="3718"/>
                      <a:pt x="1639" y="3970"/>
                    </a:cubicBezTo>
                    <a:cubicBezTo>
                      <a:pt x="1639" y="4191"/>
                      <a:pt x="1450" y="4411"/>
                      <a:pt x="1261" y="4411"/>
                    </a:cubicBezTo>
                    <a:cubicBezTo>
                      <a:pt x="1040" y="4411"/>
                      <a:pt x="820" y="4191"/>
                      <a:pt x="820" y="3970"/>
                    </a:cubicBezTo>
                    <a:cubicBezTo>
                      <a:pt x="820" y="3718"/>
                      <a:pt x="631" y="3561"/>
                      <a:pt x="410" y="3561"/>
                    </a:cubicBezTo>
                    <a:cubicBezTo>
                      <a:pt x="221" y="3561"/>
                      <a:pt x="32" y="3781"/>
                      <a:pt x="32" y="3970"/>
                    </a:cubicBezTo>
                    <a:cubicBezTo>
                      <a:pt x="32" y="4506"/>
                      <a:pt x="379" y="4947"/>
                      <a:pt x="851" y="5136"/>
                    </a:cubicBezTo>
                    <a:lnTo>
                      <a:pt x="851" y="5419"/>
                    </a:lnTo>
                    <a:cubicBezTo>
                      <a:pt x="851" y="5671"/>
                      <a:pt x="1040" y="5861"/>
                      <a:pt x="1292" y="5861"/>
                    </a:cubicBezTo>
                    <a:cubicBezTo>
                      <a:pt x="1513" y="5861"/>
                      <a:pt x="1670" y="5671"/>
                      <a:pt x="1670" y="5419"/>
                    </a:cubicBezTo>
                    <a:lnTo>
                      <a:pt x="1670" y="5136"/>
                    </a:lnTo>
                    <a:cubicBezTo>
                      <a:pt x="2143" y="4978"/>
                      <a:pt x="2521" y="4506"/>
                      <a:pt x="2521" y="3970"/>
                    </a:cubicBezTo>
                    <a:cubicBezTo>
                      <a:pt x="2521" y="3309"/>
                      <a:pt x="1954" y="2899"/>
                      <a:pt x="1513" y="2584"/>
                    </a:cubicBezTo>
                    <a:cubicBezTo>
                      <a:pt x="1198" y="2363"/>
                      <a:pt x="851" y="2111"/>
                      <a:pt x="851" y="1891"/>
                    </a:cubicBezTo>
                    <a:cubicBezTo>
                      <a:pt x="851" y="1670"/>
                      <a:pt x="1040" y="1481"/>
                      <a:pt x="1261" y="1481"/>
                    </a:cubicBezTo>
                    <a:cubicBezTo>
                      <a:pt x="1481" y="1481"/>
                      <a:pt x="1639" y="1670"/>
                      <a:pt x="1639" y="1891"/>
                    </a:cubicBezTo>
                    <a:cubicBezTo>
                      <a:pt x="1639" y="2111"/>
                      <a:pt x="1828" y="2300"/>
                      <a:pt x="2080" y="2300"/>
                    </a:cubicBezTo>
                    <a:cubicBezTo>
                      <a:pt x="2300" y="2300"/>
                      <a:pt x="2458" y="2111"/>
                      <a:pt x="2458" y="1891"/>
                    </a:cubicBezTo>
                    <a:cubicBezTo>
                      <a:pt x="2458" y="1324"/>
                      <a:pt x="2111" y="883"/>
                      <a:pt x="1639" y="694"/>
                    </a:cubicBezTo>
                    <a:lnTo>
                      <a:pt x="1639" y="410"/>
                    </a:lnTo>
                    <a:cubicBezTo>
                      <a:pt x="1639" y="190"/>
                      <a:pt x="1450" y="1"/>
                      <a:pt x="1261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3" name="Google Shape;183;p21"/>
            <p:cNvSpPr/>
            <p:nvPr/>
          </p:nvSpPr>
          <p:spPr>
            <a:xfrm rot="-2335865">
              <a:off x="1282220" y="2987424"/>
              <a:ext cx="2473961" cy="131843"/>
            </a:xfrm>
            <a:prstGeom prst="roundRect">
              <a:avLst>
                <a:gd fmla="val 16667" name="adj"/>
              </a:avLst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1"/>
            <p:cNvSpPr txBox="1"/>
            <p:nvPr/>
          </p:nvSpPr>
          <p:spPr>
            <a:xfrm>
              <a:off x="1184650" y="4155825"/>
              <a:ext cx="2669100" cy="9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L</a:t>
              </a:r>
              <a:r>
                <a:rPr lang="en-US" sz="2200">
                  <a:solidFill>
                    <a:schemeClr val="dk1"/>
                  </a:solidFill>
                </a:rPr>
                <a:t>ack of audibility</a:t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200">
                  <a:solidFill>
                    <a:schemeClr val="dk1"/>
                  </a:solidFill>
                </a:rPr>
                <a:t>in traditional finance</a:t>
              </a:r>
              <a:endParaRPr sz="2200"/>
            </a:p>
          </p:txBody>
        </p:sp>
        <p:grpSp>
          <p:nvGrpSpPr>
            <p:cNvPr id="185" name="Google Shape;185;p21"/>
            <p:cNvGrpSpPr/>
            <p:nvPr/>
          </p:nvGrpSpPr>
          <p:grpSpPr>
            <a:xfrm>
              <a:off x="7526116" y="1729377"/>
              <a:ext cx="2669106" cy="2578606"/>
              <a:chOff x="4936894" y="1729372"/>
              <a:chExt cx="1981666" cy="1914475"/>
            </a:xfrm>
          </p:grpSpPr>
          <p:grpSp>
            <p:nvGrpSpPr>
              <p:cNvPr id="186" name="Google Shape;186;p21"/>
              <p:cNvGrpSpPr/>
              <p:nvPr/>
            </p:nvGrpSpPr>
            <p:grpSpPr>
              <a:xfrm>
                <a:off x="4936894" y="2182931"/>
                <a:ext cx="1011192" cy="931162"/>
                <a:chOff x="-62518200" y="2692475"/>
                <a:chExt cx="318225" cy="289100"/>
              </a:xfrm>
            </p:grpSpPr>
            <p:sp>
              <p:nvSpPr>
                <p:cNvPr id="187" name="Google Shape;187;p21"/>
                <p:cNvSpPr/>
                <p:nvPr/>
              </p:nvSpPr>
              <p:spPr>
                <a:xfrm>
                  <a:off x="-62518200" y="2692475"/>
                  <a:ext cx="318225" cy="289100"/>
                </a:xfrm>
                <a:custGeom>
                  <a:rect b="b" l="l" r="r" t="t"/>
                  <a:pathLst>
                    <a:path extrusionOk="0" h="11564" w="12729">
                      <a:moveTo>
                        <a:pt x="3750" y="851"/>
                      </a:moveTo>
                      <a:cubicBezTo>
                        <a:pt x="5420" y="851"/>
                        <a:pt x="6617" y="1513"/>
                        <a:pt x="6617" y="2112"/>
                      </a:cubicBezTo>
                      <a:cubicBezTo>
                        <a:pt x="6617" y="2679"/>
                        <a:pt x="5420" y="3309"/>
                        <a:pt x="3750" y="3309"/>
                      </a:cubicBezTo>
                      <a:cubicBezTo>
                        <a:pt x="2206" y="3309"/>
                        <a:pt x="851" y="2679"/>
                        <a:pt x="851" y="2112"/>
                      </a:cubicBezTo>
                      <a:cubicBezTo>
                        <a:pt x="851" y="1481"/>
                        <a:pt x="2112" y="851"/>
                        <a:pt x="3750" y="851"/>
                      </a:cubicBezTo>
                      <a:close/>
                      <a:moveTo>
                        <a:pt x="6617" y="3403"/>
                      </a:moveTo>
                      <a:lnTo>
                        <a:pt x="6617" y="3781"/>
                      </a:lnTo>
                      <a:cubicBezTo>
                        <a:pt x="5829" y="4222"/>
                        <a:pt x="5199" y="4884"/>
                        <a:pt x="4821" y="5672"/>
                      </a:cubicBezTo>
                      <a:cubicBezTo>
                        <a:pt x="4475" y="5766"/>
                        <a:pt x="4096" y="5766"/>
                        <a:pt x="3750" y="5766"/>
                      </a:cubicBezTo>
                      <a:cubicBezTo>
                        <a:pt x="2206" y="5766"/>
                        <a:pt x="851" y="5136"/>
                        <a:pt x="851" y="4506"/>
                      </a:cubicBezTo>
                      <a:lnTo>
                        <a:pt x="851" y="3403"/>
                      </a:lnTo>
                      <a:cubicBezTo>
                        <a:pt x="1639" y="3939"/>
                        <a:pt x="2742" y="4159"/>
                        <a:pt x="3750" y="4159"/>
                      </a:cubicBezTo>
                      <a:cubicBezTo>
                        <a:pt x="4727" y="4159"/>
                        <a:pt x="5829" y="3939"/>
                        <a:pt x="6617" y="3403"/>
                      </a:cubicBezTo>
                      <a:close/>
                      <a:moveTo>
                        <a:pt x="883" y="5913"/>
                      </a:moveTo>
                      <a:cubicBezTo>
                        <a:pt x="1396" y="6254"/>
                        <a:pt x="2361" y="6617"/>
                        <a:pt x="3750" y="6617"/>
                      </a:cubicBezTo>
                      <a:cubicBezTo>
                        <a:pt x="4033" y="6617"/>
                        <a:pt x="4254" y="6617"/>
                        <a:pt x="4538" y="6585"/>
                      </a:cubicBezTo>
                      <a:lnTo>
                        <a:pt x="4538" y="6585"/>
                      </a:lnTo>
                      <a:cubicBezTo>
                        <a:pt x="4475" y="6869"/>
                        <a:pt x="4475" y="7184"/>
                        <a:pt x="4475" y="7467"/>
                      </a:cubicBezTo>
                      <a:cubicBezTo>
                        <a:pt x="4475" y="7719"/>
                        <a:pt x="4506" y="7971"/>
                        <a:pt x="4538" y="8255"/>
                      </a:cubicBezTo>
                      <a:cubicBezTo>
                        <a:pt x="4317" y="8287"/>
                        <a:pt x="4033" y="8287"/>
                        <a:pt x="3781" y="8287"/>
                      </a:cubicBezTo>
                      <a:cubicBezTo>
                        <a:pt x="2269" y="8287"/>
                        <a:pt x="883" y="7656"/>
                        <a:pt x="883" y="7026"/>
                      </a:cubicBezTo>
                      <a:lnTo>
                        <a:pt x="883" y="5913"/>
                      </a:lnTo>
                      <a:close/>
                      <a:moveTo>
                        <a:pt x="851" y="8350"/>
                      </a:moveTo>
                      <a:cubicBezTo>
                        <a:pt x="1639" y="8917"/>
                        <a:pt x="2773" y="9106"/>
                        <a:pt x="3750" y="9106"/>
                      </a:cubicBezTo>
                      <a:cubicBezTo>
                        <a:pt x="4096" y="9106"/>
                        <a:pt x="4412" y="9074"/>
                        <a:pt x="4727" y="9043"/>
                      </a:cubicBezTo>
                      <a:cubicBezTo>
                        <a:pt x="4979" y="9547"/>
                        <a:pt x="5294" y="10019"/>
                        <a:pt x="5672" y="10397"/>
                      </a:cubicBezTo>
                      <a:cubicBezTo>
                        <a:pt x="5136" y="10649"/>
                        <a:pt x="4475" y="10775"/>
                        <a:pt x="3750" y="10775"/>
                      </a:cubicBezTo>
                      <a:cubicBezTo>
                        <a:pt x="2112" y="10775"/>
                        <a:pt x="851" y="10082"/>
                        <a:pt x="851" y="9547"/>
                      </a:cubicBezTo>
                      <a:lnTo>
                        <a:pt x="851" y="8350"/>
                      </a:lnTo>
                      <a:close/>
                      <a:moveTo>
                        <a:pt x="8570" y="4159"/>
                      </a:moveTo>
                      <a:cubicBezTo>
                        <a:pt x="10366" y="4159"/>
                        <a:pt x="11878" y="5640"/>
                        <a:pt x="11878" y="7467"/>
                      </a:cubicBezTo>
                      <a:cubicBezTo>
                        <a:pt x="11878" y="9263"/>
                        <a:pt x="10366" y="10775"/>
                        <a:pt x="8570" y="10775"/>
                      </a:cubicBezTo>
                      <a:cubicBezTo>
                        <a:pt x="6743" y="10775"/>
                        <a:pt x="5262" y="9263"/>
                        <a:pt x="5262" y="7467"/>
                      </a:cubicBezTo>
                      <a:cubicBezTo>
                        <a:pt x="5262" y="5609"/>
                        <a:pt x="6743" y="4159"/>
                        <a:pt x="8570" y="4159"/>
                      </a:cubicBezTo>
                      <a:close/>
                      <a:moveTo>
                        <a:pt x="3781" y="1"/>
                      </a:moveTo>
                      <a:cubicBezTo>
                        <a:pt x="1797" y="1"/>
                        <a:pt x="64" y="851"/>
                        <a:pt x="64" y="2112"/>
                      </a:cubicBezTo>
                      <a:lnTo>
                        <a:pt x="64" y="9547"/>
                      </a:lnTo>
                      <a:cubicBezTo>
                        <a:pt x="1" y="10082"/>
                        <a:pt x="442" y="10649"/>
                        <a:pt x="1230" y="11027"/>
                      </a:cubicBezTo>
                      <a:cubicBezTo>
                        <a:pt x="1891" y="11405"/>
                        <a:pt x="2805" y="11563"/>
                        <a:pt x="3750" y="11563"/>
                      </a:cubicBezTo>
                      <a:cubicBezTo>
                        <a:pt x="4790" y="11563"/>
                        <a:pt x="5735" y="11311"/>
                        <a:pt x="6428" y="10964"/>
                      </a:cubicBezTo>
                      <a:cubicBezTo>
                        <a:pt x="7058" y="11342"/>
                        <a:pt x="7814" y="11563"/>
                        <a:pt x="8602" y="11563"/>
                      </a:cubicBezTo>
                      <a:cubicBezTo>
                        <a:pt x="10870" y="11563"/>
                        <a:pt x="12729" y="9704"/>
                        <a:pt x="12729" y="7404"/>
                      </a:cubicBezTo>
                      <a:cubicBezTo>
                        <a:pt x="12729" y="5136"/>
                        <a:pt x="10870" y="3277"/>
                        <a:pt x="8602" y="3277"/>
                      </a:cubicBezTo>
                      <a:cubicBezTo>
                        <a:pt x="8192" y="3277"/>
                        <a:pt x="7846" y="3309"/>
                        <a:pt x="7499" y="3435"/>
                      </a:cubicBezTo>
                      <a:lnTo>
                        <a:pt x="7499" y="2049"/>
                      </a:lnTo>
                      <a:cubicBezTo>
                        <a:pt x="7499" y="1481"/>
                        <a:pt x="7058" y="914"/>
                        <a:pt x="6302" y="536"/>
                      </a:cubicBezTo>
                      <a:cubicBezTo>
                        <a:pt x="5640" y="158"/>
                        <a:pt x="4727" y="1"/>
                        <a:pt x="3781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" name="Google Shape;188;p21"/>
                <p:cNvSpPr/>
                <p:nvPr/>
              </p:nvSpPr>
              <p:spPr>
                <a:xfrm>
                  <a:off x="-62335475" y="2804325"/>
                  <a:ext cx="62250" cy="146525"/>
                </a:xfrm>
                <a:custGeom>
                  <a:rect b="b" l="l" r="r" t="t"/>
                  <a:pathLst>
                    <a:path extrusionOk="0" h="5861" w="2490">
                      <a:moveTo>
                        <a:pt x="1261" y="0"/>
                      </a:moveTo>
                      <a:cubicBezTo>
                        <a:pt x="1009" y="0"/>
                        <a:pt x="820" y="189"/>
                        <a:pt x="820" y="410"/>
                      </a:cubicBezTo>
                      <a:lnTo>
                        <a:pt x="820" y="694"/>
                      </a:lnTo>
                      <a:cubicBezTo>
                        <a:pt x="348" y="851"/>
                        <a:pt x="1" y="1324"/>
                        <a:pt x="1" y="1891"/>
                      </a:cubicBezTo>
                      <a:cubicBezTo>
                        <a:pt x="1" y="2552"/>
                        <a:pt x="537" y="2930"/>
                        <a:pt x="978" y="3245"/>
                      </a:cubicBezTo>
                      <a:cubicBezTo>
                        <a:pt x="1293" y="3497"/>
                        <a:pt x="1639" y="3718"/>
                        <a:pt x="1639" y="3970"/>
                      </a:cubicBezTo>
                      <a:cubicBezTo>
                        <a:pt x="1671" y="4254"/>
                        <a:pt x="1482" y="4411"/>
                        <a:pt x="1261" y="4411"/>
                      </a:cubicBezTo>
                      <a:cubicBezTo>
                        <a:pt x="1009" y="4411"/>
                        <a:pt x="820" y="4191"/>
                        <a:pt x="820" y="3970"/>
                      </a:cubicBezTo>
                      <a:cubicBezTo>
                        <a:pt x="820" y="3718"/>
                        <a:pt x="631" y="3529"/>
                        <a:pt x="411" y="3529"/>
                      </a:cubicBezTo>
                      <a:cubicBezTo>
                        <a:pt x="190" y="3529"/>
                        <a:pt x="1" y="3718"/>
                        <a:pt x="1" y="3970"/>
                      </a:cubicBezTo>
                      <a:cubicBezTo>
                        <a:pt x="1" y="4506"/>
                        <a:pt x="348" y="4947"/>
                        <a:pt x="820" y="5136"/>
                      </a:cubicBezTo>
                      <a:lnTo>
                        <a:pt x="820" y="5419"/>
                      </a:lnTo>
                      <a:cubicBezTo>
                        <a:pt x="820" y="5671"/>
                        <a:pt x="1009" y="5860"/>
                        <a:pt x="1261" y="5860"/>
                      </a:cubicBezTo>
                      <a:cubicBezTo>
                        <a:pt x="1482" y="5860"/>
                        <a:pt x="1639" y="5671"/>
                        <a:pt x="1639" y="5419"/>
                      </a:cubicBezTo>
                      <a:lnTo>
                        <a:pt x="1639" y="5136"/>
                      </a:lnTo>
                      <a:cubicBezTo>
                        <a:pt x="2112" y="4978"/>
                        <a:pt x="2458" y="4506"/>
                        <a:pt x="2458" y="3970"/>
                      </a:cubicBezTo>
                      <a:cubicBezTo>
                        <a:pt x="2458" y="3308"/>
                        <a:pt x="1923" y="2899"/>
                        <a:pt x="1482" y="2584"/>
                      </a:cubicBezTo>
                      <a:cubicBezTo>
                        <a:pt x="1167" y="2363"/>
                        <a:pt x="820" y="2111"/>
                        <a:pt x="820" y="1891"/>
                      </a:cubicBezTo>
                      <a:cubicBezTo>
                        <a:pt x="820" y="1639"/>
                        <a:pt x="1009" y="1450"/>
                        <a:pt x="1261" y="1450"/>
                      </a:cubicBezTo>
                      <a:cubicBezTo>
                        <a:pt x="1482" y="1450"/>
                        <a:pt x="1639" y="1639"/>
                        <a:pt x="1639" y="1891"/>
                      </a:cubicBezTo>
                      <a:cubicBezTo>
                        <a:pt x="1639" y="2111"/>
                        <a:pt x="1860" y="2300"/>
                        <a:pt x="2049" y="2300"/>
                      </a:cubicBezTo>
                      <a:cubicBezTo>
                        <a:pt x="2269" y="2300"/>
                        <a:pt x="2490" y="2111"/>
                        <a:pt x="2490" y="1891"/>
                      </a:cubicBezTo>
                      <a:cubicBezTo>
                        <a:pt x="2490" y="1324"/>
                        <a:pt x="2112" y="883"/>
                        <a:pt x="1639" y="694"/>
                      </a:cubicBezTo>
                      <a:lnTo>
                        <a:pt x="1639" y="410"/>
                      </a:lnTo>
                      <a:cubicBezTo>
                        <a:pt x="1639" y="189"/>
                        <a:pt x="1450" y="0"/>
                        <a:pt x="1261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9" name="Google Shape;189;p21"/>
              <p:cNvGrpSpPr/>
              <p:nvPr/>
            </p:nvGrpSpPr>
            <p:grpSpPr>
              <a:xfrm>
                <a:off x="5978889" y="3222672"/>
                <a:ext cx="475197" cy="421175"/>
                <a:chOff x="-65131525" y="1914325"/>
                <a:chExt cx="316650" cy="316625"/>
              </a:xfrm>
            </p:grpSpPr>
            <p:sp>
              <p:nvSpPr>
                <p:cNvPr id="190" name="Google Shape;190;p21"/>
                <p:cNvSpPr/>
                <p:nvPr/>
              </p:nvSpPr>
              <p:spPr>
                <a:xfrm>
                  <a:off x="-65024400" y="1949750"/>
                  <a:ext cx="103175" cy="247350"/>
                </a:xfrm>
                <a:custGeom>
                  <a:rect b="b" l="l" r="r" t="t"/>
                  <a:pathLst>
                    <a:path extrusionOk="0" h="9894" w="4127">
                      <a:moveTo>
                        <a:pt x="2048" y="1"/>
                      </a:moveTo>
                      <a:cubicBezTo>
                        <a:pt x="1859" y="1"/>
                        <a:pt x="1638" y="190"/>
                        <a:pt x="1638" y="379"/>
                      </a:cubicBezTo>
                      <a:lnTo>
                        <a:pt x="1638" y="851"/>
                      </a:lnTo>
                      <a:cubicBezTo>
                        <a:pt x="725" y="1040"/>
                        <a:pt x="0" y="1891"/>
                        <a:pt x="0" y="2868"/>
                      </a:cubicBezTo>
                      <a:cubicBezTo>
                        <a:pt x="0" y="3970"/>
                        <a:pt x="977" y="4632"/>
                        <a:pt x="1827" y="5262"/>
                      </a:cubicBezTo>
                      <a:cubicBezTo>
                        <a:pt x="2552" y="5829"/>
                        <a:pt x="3308" y="6333"/>
                        <a:pt x="3308" y="6995"/>
                      </a:cubicBezTo>
                      <a:cubicBezTo>
                        <a:pt x="3308" y="7656"/>
                        <a:pt x="2772" y="8255"/>
                        <a:pt x="2079" y="8255"/>
                      </a:cubicBezTo>
                      <a:cubicBezTo>
                        <a:pt x="1418" y="8255"/>
                        <a:pt x="851" y="7688"/>
                        <a:pt x="851" y="6995"/>
                      </a:cubicBezTo>
                      <a:cubicBezTo>
                        <a:pt x="851" y="6774"/>
                        <a:pt x="662" y="6617"/>
                        <a:pt x="441" y="6617"/>
                      </a:cubicBezTo>
                      <a:cubicBezTo>
                        <a:pt x="189" y="6617"/>
                        <a:pt x="32" y="6806"/>
                        <a:pt x="32" y="6995"/>
                      </a:cubicBezTo>
                      <a:cubicBezTo>
                        <a:pt x="32" y="7971"/>
                        <a:pt x="756" y="8854"/>
                        <a:pt x="1701" y="9011"/>
                      </a:cubicBezTo>
                      <a:lnTo>
                        <a:pt x="1701" y="9484"/>
                      </a:lnTo>
                      <a:cubicBezTo>
                        <a:pt x="1701" y="9704"/>
                        <a:pt x="1890" y="9893"/>
                        <a:pt x="2079" y="9893"/>
                      </a:cubicBezTo>
                      <a:cubicBezTo>
                        <a:pt x="2268" y="9893"/>
                        <a:pt x="2489" y="9704"/>
                        <a:pt x="2489" y="9484"/>
                      </a:cubicBezTo>
                      <a:lnTo>
                        <a:pt x="2489" y="9011"/>
                      </a:lnTo>
                      <a:cubicBezTo>
                        <a:pt x="3434" y="8791"/>
                        <a:pt x="4127" y="7971"/>
                        <a:pt x="4127" y="6995"/>
                      </a:cubicBezTo>
                      <a:cubicBezTo>
                        <a:pt x="4127" y="5892"/>
                        <a:pt x="3151" y="5231"/>
                        <a:pt x="2331" y="4600"/>
                      </a:cubicBezTo>
                      <a:cubicBezTo>
                        <a:pt x="1575" y="4033"/>
                        <a:pt x="819" y="3529"/>
                        <a:pt x="819" y="2868"/>
                      </a:cubicBezTo>
                      <a:cubicBezTo>
                        <a:pt x="788" y="2143"/>
                        <a:pt x="1386" y="1607"/>
                        <a:pt x="2048" y="1607"/>
                      </a:cubicBezTo>
                      <a:cubicBezTo>
                        <a:pt x="2709" y="1607"/>
                        <a:pt x="3277" y="2143"/>
                        <a:pt x="3277" y="2868"/>
                      </a:cubicBezTo>
                      <a:cubicBezTo>
                        <a:pt x="3277" y="3088"/>
                        <a:pt x="3466" y="3246"/>
                        <a:pt x="3686" y="3246"/>
                      </a:cubicBezTo>
                      <a:cubicBezTo>
                        <a:pt x="3938" y="3246"/>
                        <a:pt x="4096" y="3057"/>
                        <a:pt x="4096" y="2868"/>
                      </a:cubicBezTo>
                      <a:cubicBezTo>
                        <a:pt x="4096" y="1891"/>
                        <a:pt x="3371" y="1009"/>
                        <a:pt x="2426" y="851"/>
                      </a:cubicBezTo>
                      <a:lnTo>
                        <a:pt x="2426" y="379"/>
                      </a:lnTo>
                      <a:cubicBezTo>
                        <a:pt x="2426" y="158"/>
                        <a:pt x="2237" y="1"/>
                        <a:pt x="2048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21"/>
                <p:cNvSpPr/>
                <p:nvPr/>
              </p:nvSpPr>
              <p:spPr>
                <a:xfrm>
                  <a:off x="-65131525" y="1914325"/>
                  <a:ext cx="316650" cy="316625"/>
                </a:xfrm>
                <a:custGeom>
                  <a:rect b="b" l="l" r="r" t="t"/>
                  <a:pathLst>
                    <a:path extrusionOk="0" h="12665" w="12666">
                      <a:moveTo>
                        <a:pt x="6333" y="819"/>
                      </a:moveTo>
                      <a:cubicBezTo>
                        <a:pt x="9357" y="819"/>
                        <a:pt x="11846" y="3308"/>
                        <a:pt x="11846" y="6332"/>
                      </a:cubicBezTo>
                      <a:cubicBezTo>
                        <a:pt x="11846" y="9357"/>
                        <a:pt x="9357" y="11846"/>
                        <a:pt x="6333" y="11846"/>
                      </a:cubicBezTo>
                      <a:cubicBezTo>
                        <a:pt x="3308" y="11846"/>
                        <a:pt x="819" y="9357"/>
                        <a:pt x="819" y="6332"/>
                      </a:cubicBezTo>
                      <a:cubicBezTo>
                        <a:pt x="819" y="3308"/>
                        <a:pt x="3308" y="819"/>
                        <a:pt x="6333" y="819"/>
                      </a:cubicBezTo>
                      <a:close/>
                      <a:moveTo>
                        <a:pt x="6333" y="0"/>
                      </a:moveTo>
                      <a:cubicBezTo>
                        <a:pt x="2836" y="0"/>
                        <a:pt x="0" y="2835"/>
                        <a:pt x="0" y="6332"/>
                      </a:cubicBezTo>
                      <a:cubicBezTo>
                        <a:pt x="0" y="9830"/>
                        <a:pt x="2836" y="12665"/>
                        <a:pt x="6333" y="12665"/>
                      </a:cubicBezTo>
                      <a:cubicBezTo>
                        <a:pt x="9830" y="12665"/>
                        <a:pt x="12665" y="9830"/>
                        <a:pt x="12665" y="6332"/>
                      </a:cubicBezTo>
                      <a:cubicBezTo>
                        <a:pt x="12665" y="2835"/>
                        <a:pt x="9830" y="0"/>
                        <a:pt x="6333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2" name="Google Shape;192;p21"/>
              <p:cNvGrpSpPr/>
              <p:nvPr/>
            </p:nvGrpSpPr>
            <p:grpSpPr>
              <a:xfrm>
                <a:off x="6443364" y="2755860"/>
                <a:ext cx="475197" cy="421175"/>
                <a:chOff x="-65131525" y="1914325"/>
                <a:chExt cx="316650" cy="316625"/>
              </a:xfrm>
            </p:grpSpPr>
            <p:sp>
              <p:nvSpPr>
                <p:cNvPr id="193" name="Google Shape;193;p21"/>
                <p:cNvSpPr/>
                <p:nvPr/>
              </p:nvSpPr>
              <p:spPr>
                <a:xfrm>
                  <a:off x="-65024400" y="1949750"/>
                  <a:ext cx="103175" cy="247350"/>
                </a:xfrm>
                <a:custGeom>
                  <a:rect b="b" l="l" r="r" t="t"/>
                  <a:pathLst>
                    <a:path extrusionOk="0" h="9894" w="4127">
                      <a:moveTo>
                        <a:pt x="2048" y="1"/>
                      </a:moveTo>
                      <a:cubicBezTo>
                        <a:pt x="1859" y="1"/>
                        <a:pt x="1638" y="190"/>
                        <a:pt x="1638" y="379"/>
                      </a:cubicBezTo>
                      <a:lnTo>
                        <a:pt x="1638" y="851"/>
                      </a:lnTo>
                      <a:cubicBezTo>
                        <a:pt x="725" y="1040"/>
                        <a:pt x="0" y="1891"/>
                        <a:pt x="0" y="2868"/>
                      </a:cubicBezTo>
                      <a:cubicBezTo>
                        <a:pt x="0" y="3970"/>
                        <a:pt x="977" y="4632"/>
                        <a:pt x="1827" y="5262"/>
                      </a:cubicBezTo>
                      <a:cubicBezTo>
                        <a:pt x="2552" y="5829"/>
                        <a:pt x="3308" y="6333"/>
                        <a:pt x="3308" y="6995"/>
                      </a:cubicBezTo>
                      <a:cubicBezTo>
                        <a:pt x="3308" y="7656"/>
                        <a:pt x="2772" y="8255"/>
                        <a:pt x="2079" y="8255"/>
                      </a:cubicBezTo>
                      <a:cubicBezTo>
                        <a:pt x="1418" y="8255"/>
                        <a:pt x="851" y="7688"/>
                        <a:pt x="851" y="6995"/>
                      </a:cubicBezTo>
                      <a:cubicBezTo>
                        <a:pt x="851" y="6774"/>
                        <a:pt x="662" y="6617"/>
                        <a:pt x="441" y="6617"/>
                      </a:cubicBezTo>
                      <a:cubicBezTo>
                        <a:pt x="189" y="6617"/>
                        <a:pt x="32" y="6806"/>
                        <a:pt x="32" y="6995"/>
                      </a:cubicBezTo>
                      <a:cubicBezTo>
                        <a:pt x="32" y="7971"/>
                        <a:pt x="756" y="8854"/>
                        <a:pt x="1701" y="9011"/>
                      </a:cubicBezTo>
                      <a:lnTo>
                        <a:pt x="1701" y="9484"/>
                      </a:lnTo>
                      <a:cubicBezTo>
                        <a:pt x="1701" y="9704"/>
                        <a:pt x="1890" y="9893"/>
                        <a:pt x="2079" y="9893"/>
                      </a:cubicBezTo>
                      <a:cubicBezTo>
                        <a:pt x="2268" y="9893"/>
                        <a:pt x="2489" y="9704"/>
                        <a:pt x="2489" y="9484"/>
                      </a:cubicBezTo>
                      <a:lnTo>
                        <a:pt x="2489" y="9011"/>
                      </a:lnTo>
                      <a:cubicBezTo>
                        <a:pt x="3434" y="8791"/>
                        <a:pt x="4127" y="7971"/>
                        <a:pt x="4127" y="6995"/>
                      </a:cubicBezTo>
                      <a:cubicBezTo>
                        <a:pt x="4127" y="5892"/>
                        <a:pt x="3151" y="5231"/>
                        <a:pt x="2331" y="4600"/>
                      </a:cubicBezTo>
                      <a:cubicBezTo>
                        <a:pt x="1575" y="4033"/>
                        <a:pt x="819" y="3529"/>
                        <a:pt x="819" y="2868"/>
                      </a:cubicBezTo>
                      <a:cubicBezTo>
                        <a:pt x="788" y="2143"/>
                        <a:pt x="1386" y="1607"/>
                        <a:pt x="2048" y="1607"/>
                      </a:cubicBezTo>
                      <a:cubicBezTo>
                        <a:pt x="2709" y="1607"/>
                        <a:pt x="3277" y="2143"/>
                        <a:pt x="3277" y="2868"/>
                      </a:cubicBezTo>
                      <a:cubicBezTo>
                        <a:pt x="3277" y="3088"/>
                        <a:pt x="3466" y="3246"/>
                        <a:pt x="3686" y="3246"/>
                      </a:cubicBezTo>
                      <a:cubicBezTo>
                        <a:pt x="3938" y="3246"/>
                        <a:pt x="4096" y="3057"/>
                        <a:pt x="4096" y="2868"/>
                      </a:cubicBezTo>
                      <a:cubicBezTo>
                        <a:pt x="4096" y="1891"/>
                        <a:pt x="3371" y="1009"/>
                        <a:pt x="2426" y="851"/>
                      </a:cubicBezTo>
                      <a:lnTo>
                        <a:pt x="2426" y="379"/>
                      </a:lnTo>
                      <a:cubicBezTo>
                        <a:pt x="2426" y="158"/>
                        <a:pt x="2237" y="1"/>
                        <a:pt x="2048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" name="Google Shape;194;p21"/>
                <p:cNvSpPr/>
                <p:nvPr/>
              </p:nvSpPr>
              <p:spPr>
                <a:xfrm>
                  <a:off x="-65131525" y="1914325"/>
                  <a:ext cx="316650" cy="316625"/>
                </a:xfrm>
                <a:custGeom>
                  <a:rect b="b" l="l" r="r" t="t"/>
                  <a:pathLst>
                    <a:path extrusionOk="0" h="12665" w="12666">
                      <a:moveTo>
                        <a:pt x="6333" y="819"/>
                      </a:moveTo>
                      <a:cubicBezTo>
                        <a:pt x="9357" y="819"/>
                        <a:pt x="11846" y="3308"/>
                        <a:pt x="11846" y="6332"/>
                      </a:cubicBezTo>
                      <a:cubicBezTo>
                        <a:pt x="11846" y="9357"/>
                        <a:pt x="9357" y="11846"/>
                        <a:pt x="6333" y="11846"/>
                      </a:cubicBezTo>
                      <a:cubicBezTo>
                        <a:pt x="3308" y="11846"/>
                        <a:pt x="819" y="9357"/>
                        <a:pt x="819" y="6332"/>
                      </a:cubicBezTo>
                      <a:cubicBezTo>
                        <a:pt x="819" y="3308"/>
                        <a:pt x="3308" y="819"/>
                        <a:pt x="6333" y="819"/>
                      </a:cubicBezTo>
                      <a:close/>
                      <a:moveTo>
                        <a:pt x="6333" y="0"/>
                      </a:moveTo>
                      <a:cubicBezTo>
                        <a:pt x="2836" y="0"/>
                        <a:pt x="0" y="2835"/>
                        <a:pt x="0" y="6332"/>
                      </a:cubicBezTo>
                      <a:cubicBezTo>
                        <a:pt x="0" y="9830"/>
                        <a:pt x="2836" y="12665"/>
                        <a:pt x="6333" y="12665"/>
                      </a:cubicBezTo>
                      <a:cubicBezTo>
                        <a:pt x="9830" y="12665"/>
                        <a:pt x="12665" y="9830"/>
                        <a:pt x="12665" y="6332"/>
                      </a:cubicBezTo>
                      <a:cubicBezTo>
                        <a:pt x="12665" y="2835"/>
                        <a:pt x="9830" y="0"/>
                        <a:pt x="6333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5" name="Google Shape;195;p21"/>
              <p:cNvGrpSpPr/>
              <p:nvPr/>
            </p:nvGrpSpPr>
            <p:grpSpPr>
              <a:xfrm>
                <a:off x="5978889" y="1729372"/>
                <a:ext cx="475197" cy="421175"/>
                <a:chOff x="-65131525" y="1914325"/>
                <a:chExt cx="316650" cy="316625"/>
              </a:xfrm>
            </p:grpSpPr>
            <p:sp>
              <p:nvSpPr>
                <p:cNvPr id="196" name="Google Shape;196;p21"/>
                <p:cNvSpPr/>
                <p:nvPr/>
              </p:nvSpPr>
              <p:spPr>
                <a:xfrm>
                  <a:off x="-65024400" y="1949750"/>
                  <a:ext cx="103175" cy="247350"/>
                </a:xfrm>
                <a:custGeom>
                  <a:rect b="b" l="l" r="r" t="t"/>
                  <a:pathLst>
                    <a:path extrusionOk="0" h="9894" w="4127">
                      <a:moveTo>
                        <a:pt x="2048" y="1"/>
                      </a:moveTo>
                      <a:cubicBezTo>
                        <a:pt x="1859" y="1"/>
                        <a:pt x="1638" y="190"/>
                        <a:pt x="1638" y="379"/>
                      </a:cubicBezTo>
                      <a:lnTo>
                        <a:pt x="1638" y="851"/>
                      </a:lnTo>
                      <a:cubicBezTo>
                        <a:pt x="725" y="1040"/>
                        <a:pt x="0" y="1891"/>
                        <a:pt x="0" y="2868"/>
                      </a:cubicBezTo>
                      <a:cubicBezTo>
                        <a:pt x="0" y="3970"/>
                        <a:pt x="977" y="4632"/>
                        <a:pt x="1827" y="5262"/>
                      </a:cubicBezTo>
                      <a:cubicBezTo>
                        <a:pt x="2552" y="5829"/>
                        <a:pt x="3308" y="6333"/>
                        <a:pt x="3308" y="6995"/>
                      </a:cubicBezTo>
                      <a:cubicBezTo>
                        <a:pt x="3308" y="7656"/>
                        <a:pt x="2772" y="8255"/>
                        <a:pt x="2079" y="8255"/>
                      </a:cubicBezTo>
                      <a:cubicBezTo>
                        <a:pt x="1418" y="8255"/>
                        <a:pt x="851" y="7688"/>
                        <a:pt x="851" y="6995"/>
                      </a:cubicBezTo>
                      <a:cubicBezTo>
                        <a:pt x="851" y="6774"/>
                        <a:pt x="662" y="6617"/>
                        <a:pt x="441" y="6617"/>
                      </a:cubicBezTo>
                      <a:cubicBezTo>
                        <a:pt x="189" y="6617"/>
                        <a:pt x="32" y="6806"/>
                        <a:pt x="32" y="6995"/>
                      </a:cubicBezTo>
                      <a:cubicBezTo>
                        <a:pt x="32" y="7971"/>
                        <a:pt x="756" y="8854"/>
                        <a:pt x="1701" y="9011"/>
                      </a:cubicBezTo>
                      <a:lnTo>
                        <a:pt x="1701" y="9484"/>
                      </a:lnTo>
                      <a:cubicBezTo>
                        <a:pt x="1701" y="9704"/>
                        <a:pt x="1890" y="9893"/>
                        <a:pt x="2079" y="9893"/>
                      </a:cubicBezTo>
                      <a:cubicBezTo>
                        <a:pt x="2268" y="9893"/>
                        <a:pt x="2489" y="9704"/>
                        <a:pt x="2489" y="9484"/>
                      </a:cubicBezTo>
                      <a:lnTo>
                        <a:pt x="2489" y="9011"/>
                      </a:lnTo>
                      <a:cubicBezTo>
                        <a:pt x="3434" y="8791"/>
                        <a:pt x="4127" y="7971"/>
                        <a:pt x="4127" y="6995"/>
                      </a:cubicBezTo>
                      <a:cubicBezTo>
                        <a:pt x="4127" y="5892"/>
                        <a:pt x="3151" y="5231"/>
                        <a:pt x="2331" y="4600"/>
                      </a:cubicBezTo>
                      <a:cubicBezTo>
                        <a:pt x="1575" y="4033"/>
                        <a:pt x="819" y="3529"/>
                        <a:pt x="819" y="2868"/>
                      </a:cubicBezTo>
                      <a:cubicBezTo>
                        <a:pt x="788" y="2143"/>
                        <a:pt x="1386" y="1607"/>
                        <a:pt x="2048" y="1607"/>
                      </a:cubicBezTo>
                      <a:cubicBezTo>
                        <a:pt x="2709" y="1607"/>
                        <a:pt x="3277" y="2143"/>
                        <a:pt x="3277" y="2868"/>
                      </a:cubicBezTo>
                      <a:cubicBezTo>
                        <a:pt x="3277" y="3088"/>
                        <a:pt x="3466" y="3246"/>
                        <a:pt x="3686" y="3246"/>
                      </a:cubicBezTo>
                      <a:cubicBezTo>
                        <a:pt x="3938" y="3246"/>
                        <a:pt x="4096" y="3057"/>
                        <a:pt x="4096" y="2868"/>
                      </a:cubicBezTo>
                      <a:cubicBezTo>
                        <a:pt x="4096" y="1891"/>
                        <a:pt x="3371" y="1009"/>
                        <a:pt x="2426" y="851"/>
                      </a:cubicBezTo>
                      <a:lnTo>
                        <a:pt x="2426" y="379"/>
                      </a:lnTo>
                      <a:cubicBezTo>
                        <a:pt x="2426" y="158"/>
                        <a:pt x="2237" y="1"/>
                        <a:pt x="2048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21"/>
                <p:cNvSpPr/>
                <p:nvPr/>
              </p:nvSpPr>
              <p:spPr>
                <a:xfrm>
                  <a:off x="-65131525" y="1914325"/>
                  <a:ext cx="316650" cy="316625"/>
                </a:xfrm>
                <a:custGeom>
                  <a:rect b="b" l="l" r="r" t="t"/>
                  <a:pathLst>
                    <a:path extrusionOk="0" h="12665" w="12666">
                      <a:moveTo>
                        <a:pt x="6333" y="819"/>
                      </a:moveTo>
                      <a:cubicBezTo>
                        <a:pt x="9357" y="819"/>
                        <a:pt x="11846" y="3308"/>
                        <a:pt x="11846" y="6332"/>
                      </a:cubicBezTo>
                      <a:cubicBezTo>
                        <a:pt x="11846" y="9357"/>
                        <a:pt x="9357" y="11846"/>
                        <a:pt x="6333" y="11846"/>
                      </a:cubicBezTo>
                      <a:cubicBezTo>
                        <a:pt x="3308" y="11846"/>
                        <a:pt x="819" y="9357"/>
                        <a:pt x="819" y="6332"/>
                      </a:cubicBezTo>
                      <a:cubicBezTo>
                        <a:pt x="819" y="3308"/>
                        <a:pt x="3308" y="819"/>
                        <a:pt x="6333" y="819"/>
                      </a:cubicBezTo>
                      <a:close/>
                      <a:moveTo>
                        <a:pt x="6333" y="0"/>
                      </a:moveTo>
                      <a:cubicBezTo>
                        <a:pt x="2836" y="0"/>
                        <a:pt x="0" y="2835"/>
                        <a:pt x="0" y="6332"/>
                      </a:cubicBezTo>
                      <a:cubicBezTo>
                        <a:pt x="0" y="9830"/>
                        <a:pt x="2836" y="12665"/>
                        <a:pt x="6333" y="12665"/>
                      </a:cubicBezTo>
                      <a:cubicBezTo>
                        <a:pt x="9830" y="12665"/>
                        <a:pt x="12665" y="9830"/>
                        <a:pt x="12665" y="6332"/>
                      </a:cubicBezTo>
                      <a:cubicBezTo>
                        <a:pt x="12665" y="2835"/>
                        <a:pt x="9830" y="0"/>
                        <a:pt x="6333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98" name="Google Shape;198;p21"/>
              <p:cNvGrpSpPr/>
              <p:nvPr/>
            </p:nvGrpSpPr>
            <p:grpSpPr>
              <a:xfrm>
                <a:off x="6436089" y="2106722"/>
                <a:ext cx="475197" cy="421175"/>
                <a:chOff x="-65131525" y="1914325"/>
                <a:chExt cx="316650" cy="316625"/>
              </a:xfrm>
            </p:grpSpPr>
            <p:sp>
              <p:nvSpPr>
                <p:cNvPr id="199" name="Google Shape;199;p21"/>
                <p:cNvSpPr/>
                <p:nvPr/>
              </p:nvSpPr>
              <p:spPr>
                <a:xfrm>
                  <a:off x="-65024400" y="1949750"/>
                  <a:ext cx="103175" cy="247350"/>
                </a:xfrm>
                <a:custGeom>
                  <a:rect b="b" l="l" r="r" t="t"/>
                  <a:pathLst>
                    <a:path extrusionOk="0" h="9894" w="4127">
                      <a:moveTo>
                        <a:pt x="2048" y="1"/>
                      </a:moveTo>
                      <a:cubicBezTo>
                        <a:pt x="1859" y="1"/>
                        <a:pt x="1638" y="190"/>
                        <a:pt x="1638" y="379"/>
                      </a:cubicBezTo>
                      <a:lnTo>
                        <a:pt x="1638" y="851"/>
                      </a:lnTo>
                      <a:cubicBezTo>
                        <a:pt x="725" y="1040"/>
                        <a:pt x="0" y="1891"/>
                        <a:pt x="0" y="2868"/>
                      </a:cubicBezTo>
                      <a:cubicBezTo>
                        <a:pt x="0" y="3970"/>
                        <a:pt x="977" y="4632"/>
                        <a:pt x="1827" y="5262"/>
                      </a:cubicBezTo>
                      <a:cubicBezTo>
                        <a:pt x="2552" y="5829"/>
                        <a:pt x="3308" y="6333"/>
                        <a:pt x="3308" y="6995"/>
                      </a:cubicBezTo>
                      <a:cubicBezTo>
                        <a:pt x="3308" y="7656"/>
                        <a:pt x="2772" y="8255"/>
                        <a:pt x="2079" y="8255"/>
                      </a:cubicBezTo>
                      <a:cubicBezTo>
                        <a:pt x="1418" y="8255"/>
                        <a:pt x="851" y="7688"/>
                        <a:pt x="851" y="6995"/>
                      </a:cubicBezTo>
                      <a:cubicBezTo>
                        <a:pt x="851" y="6774"/>
                        <a:pt x="662" y="6617"/>
                        <a:pt x="441" y="6617"/>
                      </a:cubicBezTo>
                      <a:cubicBezTo>
                        <a:pt x="189" y="6617"/>
                        <a:pt x="32" y="6806"/>
                        <a:pt x="32" y="6995"/>
                      </a:cubicBezTo>
                      <a:cubicBezTo>
                        <a:pt x="32" y="7971"/>
                        <a:pt x="756" y="8854"/>
                        <a:pt x="1701" y="9011"/>
                      </a:cubicBezTo>
                      <a:lnTo>
                        <a:pt x="1701" y="9484"/>
                      </a:lnTo>
                      <a:cubicBezTo>
                        <a:pt x="1701" y="9704"/>
                        <a:pt x="1890" y="9893"/>
                        <a:pt x="2079" y="9893"/>
                      </a:cubicBezTo>
                      <a:cubicBezTo>
                        <a:pt x="2268" y="9893"/>
                        <a:pt x="2489" y="9704"/>
                        <a:pt x="2489" y="9484"/>
                      </a:cubicBezTo>
                      <a:lnTo>
                        <a:pt x="2489" y="9011"/>
                      </a:lnTo>
                      <a:cubicBezTo>
                        <a:pt x="3434" y="8791"/>
                        <a:pt x="4127" y="7971"/>
                        <a:pt x="4127" y="6995"/>
                      </a:cubicBezTo>
                      <a:cubicBezTo>
                        <a:pt x="4127" y="5892"/>
                        <a:pt x="3151" y="5231"/>
                        <a:pt x="2331" y="4600"/>
                      </a:cubicBezTo>
                      <a:cubicBezTo>
                        <a:pt x="1575" y="4033"/>
                        <a:pt x="819" y="3529"/>
                        <a:pt x="819" y="2868"/>
                      </a:cubicBezTo>
                      <a:cubicBezTo>
                        <a:pt x="788" y="2143"/>
                        <a:pt x="1386" y="1607"/>
                        <a:pt x="2048" y="1607"/>
                      </a:cubicBezTo>
                      <a:cubicBezTo>
                        <a:pt x="2709" y="1607"/>
                        <a:pt x="3277" y="2143"/>
                        <a:pt x="3277" y="2868"/>
                      </a:cubicBezTo>
                      <a:cubicBezTo>
                        <a:pt x="3277" y="3088"/>
                        <a:pt x="3466" y="3246"/>
                        <a:pt x="3686" y="3246"/>
                      </a:cubicBezTo>
                      <a:cubicBezTo>
                        <a:pt x="3938" y="3246"/>
                        <a:pt x="4096" y="3057"/>
                        <a:pt x="4096" y="2868"/>
                      </a:cubicBezTo>
                      <a:cubicBezTo>
                        <a:pt x="4096" y="1891"/>
                        <a:pt x="3371" y="1009"/>
                        <a:pt x="2426" y="851"/>
                      </a:cubicBezTo>
                      <a:lnTo>
                        <a:pt x="2426" y="379"/>
                      </a:lnTo>
                      <a:cubicBezTo>
                        <a:pt x="2426" y="158"/>
                        <a:pt x="2237" y="1"/>
                        <a:pt x="2048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21"/>
                <p:cNvSpPr/>
                <p:nvPr/>
              </p:nvSpPr>
              <p:spPr>
                <a:xfrm>
                  <a:off x="-65131525" y="1914325"/>
                  <a:ext cx="316650" cy="316625"/>
                </a:xfrm>
                <a:custGeom>
                  <a:rect b="b" l="l" r="r" t="t"/>
                  <a:pathLst>
                    <a:path extrusionOk="0" h="12665" w="12666">
                      <a:moveTo>
                        <a:pt x="6333" y="819"/>
                      </a:moveTo>
                      <a:cubicBezTo>
                        <a:pt x="9357" y="819"/>
                        <a:pt x="11846" y="3308"/>
                        <a:pt x="11846" y="6332"/>
                      </a:cubicBezTo>
                      <a:cubicBezTo>
                        <a:pt x="11846" y="9357"/>
                        <a:pt x="9357" y="11846"/>
                        <a:pt x="6333" y="11846"/>
                      </a:cubicBezTo>
                      <a:cubicBezTo>
                        <a:pt x="3308" y="11846"/>
                        <a:pt x="819" y="9357"/>
                        <a:pt x="819" y="6332"/>
                      </a:cubicBezTo>
                      <a:cubicBezTo>
                        <a:pt x="819" y="3308"/>
                        <a:pt x="3308" y="819"/>
                        <a:pt x="6333" y="819"/>
                      </a:cubicBezTo>
                      <a:close/>
                      <a:moveTo>
                        <a:pt x="6333" y="0"/>
                      </a:moveTo>
                      <a:cubicBezTo>
                        <a:pt x="2836" y="0"/>
                        <a:pt x="0" y="2835"/>
                        <a:pt x="0" y="6332"/>
                      </a:cubicBezTo>
                      <a:cubicBezTo>
                        <a:pt x="0" y="9830"/>
                        <a:pt x="2836" y="12665"/>
                        <a:pt x="6333" y="12665"/>
                      </a:cubicBezTo>
                      <a:cubicBezTo>
                        <a:pt x="9830" y="12665"/>
                        <a:pt x="12665" y="9830"/>
                        <a:pt x="12665" y="6332"/>
                      </a:cubicBezTo>
                      <a:cubicBezTo>
                        <a:pt x="12665" y="2835"/>
                        <a:pt x="9830" y="0"/>
                        <a:pt x="6333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 cap="flat" cmpd="sng" w="19050">
                  <a:solidFill>
                    <a:srgbClr val="5F7D9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201" name="Google Shape;201;p21"/>
              <p:cNvCxnSpPr/>
              <p:nvPr/>
            </p:nvCxnSpPr>
            <p:spPr>
              <a:xfrm flipH="1" rot="10800000">
                <a:off x="5602550" y="2030100"/>
                <a:ext cx="259500" cy="204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F7D95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2" name="Google Shape;202;p21"/>
              <p:cNvCxnSpPr/>
              <p:nvPr/>
            </p:nvCxnSpPr>
            <p:spPr>
              <a:xfrm flipH="1" rot="10800000">
                <a:off x="6010325" y="2438000"/>
                <a:ext cx="370800" cy="166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F7D95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3" name="Google Shape;203;p21"/>
              <p:cNvCxnSpPr/>
              <p:nvPr/>
            </p:nvCxnSpPr>
            <p:spPr>
              <a:xfrm>
                <a:off x="6010325" y="2909600"/>
                <a:ext cx="370800" cy="28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F7D95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04" name="Google Shape;204;p21"/>
              <p:cNvCxnSpPr/>
              <p:nvPr/>
            </p:nvCxnSpPr>
            <p:spPr>
              <a:xfrm>
                <a:off x="5806450" y="3105250"/>
                <a:ext cx="185400" cy="148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5F7D95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05" name="Google Shape;205;p21"/>
            <p:cNvSpPr txBox="1"/>
            <p:nvPr/>
          </p:nvSpPr>
          <p:spPr>
            <a:xfrm>
              <a:off x="6997675" y="4155825"/>
              <a:ext cx="3726000" cy="9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Split assets for investing</a:t>
              </a:r>
              <a:endParaRPr sz="2200"/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4253600" y="2843700"/>
              <a:ext cx="2401200" cy="444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1"/>
            <p:cNvSpPr/>
            <p:nvPr/>
          </p:nvSpPr>
          <p:spPr>
            <a:xfrm rot="2700000">
              <a:off x="5032061" y="2647978"/>
              <a:ext cx="885439" cy="876105"/>
            </a:xfrm>
            <a:prstGeom prst="plus">
              <a:avLst>
                <a:gd fmla="val 40203" name="adj"/>
              </a:avLst>
            </a:prstGeom>
            <a:solidFill>
              <a:srgbClr val="5F7D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801950" y="1638925"/>
            <a:ext cx="10027500" cy="3477500"/>
            <a:chOff x="801950" y="1638925"/>
            <a:chExt cx="10027500" cy="3477500"/>
          </a:xfrm>
        </p:grpSpPr>
        <p:grpSp>
          <p:nvGrpSpPr>
            <p:cNvPr id="209" name="Google Shape;209;p21"/>
            <p:cNvGrpSpPr/>
            <p:nvPr/>
          </p:nvGrpSpPr>
          <p:grpSpPr>
            <a:xfrm>
              <a:off x="801950" y="1638925"/>
              <a:ext cx="10027500" cy="3477500"/>
              <a:chOff x="801950" y="1638925"/>
              <a:chExt cx="10027500" cy="3477500"/>
            </a:xfrm>
          </p:grpSpPr>
          <p:sp>
            <p:nvSpPr>
              <p:cNvPr id="210" name="Google Shape;210;p21"/>
              <p:cNvSpPr/>
              <p:nvPr/>
            </p:nvSpPr>
            <p:spPr>
              <a:xfrm>
                <a:off x="801950" y="1638925"/>
                <a:ext cx="10027500" cy="3401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1" name="Google Shape;211;p21"/>
              <p:cNvGrpSpPr/>
              <p:nvPr/>
            </p:nvGrpSpPr>
            <p:grpSpPr>
              <a:xfrm>
                <a:off x="1820529" y="2222595"/>
                <a:ext cx="1390891" cy="1661240"/>
                <a:chOff x="-62496925" y="1931475"/>
                <a:chExt cx="275675" cy="316825"/>
              </a:xfrm>
            </p:grpSpPr>
            <p:sp>
              <p:nvSpPr>
                <p:cNvPr id="212" name="Google Shape;212;p21"/>
                <p:cNvSpPr/>
                <p:nvPr/>
              </p:nvSpPr>
              <p:spPr>
                <a:xfrm>
                  <a:off x="-62496925" y="1931475"/>
                  <a:ext cx="275675" cy="316825"/>
                </a:xfrm>
                <a:custGeom>
                  <a:rect b="b" l="l" r="r" t="t"/>
                  <a:pathLst>
                    <a:path extrusionOk="0" h="12673" w="11027">
                      <a:moveTo>
                        <a:pt x="5514" y="1047"/>
                      </a:moveTo>
                      <a:cubicBezTo>
                        <a:pt x="6238" y="1519"/>
                        <a:pt x="7215" y="1834"/>
                        <a:pt x="8003" y="1834"/>
                      </a:cubicBezTo>
                      <a:cubicBezTo>
                        <a:pt x="8538" y="1834"/>
                        <a:pt x="9294" y="1708"/>
                        <a:pt x="10208" y="1204"/>
                      </a:cubicBezTo>
                      <a:lnTo>
                        <a:pt x="10208" y="5237"/>
                      </a:lnTo>
                      <a:cubicBezTo>
                        <a:pt x="10177" y="8198"/>
                        <a:pt x="8349" y="10845"/>
                        <a:pt x="5514" y="11821"/>
                      </a:cubicBezTo>
                      <a:cubicBezTo>
                        <a:pt x="2710" y="10845"/>
                        <a:pt x="820" y="8198"/>
                        <a:pt x="820" y="5237"/>
                      </a:cubicBezTo>
                      <a:lnTo>
                        <a:pt x="820" y="1204"/>
                      </a:lnTo>
                      <a:cubicBezTo>
                        <a:pt x="1513" y="1582"/>
                        <a:pt x="2269" y="1834"/>
                        <a:pt x="3025" y="1834"/>
                      </a:cubicBezTo>
                      <a:cubicBezTo>
                        <a:pt x="3844" y="1834"/>
                        <a:pt x="4758" y="1551"/>
                        <a:pt x="5514" y="1047"/>
                      </a:cubicBezTo>
                      <a:close/>
                      <a:moveTo>
                        <a:pt x="10654" y="1"/>
                      </a:moveTo>
                      <a:cubicBezTo>
                        <a:pt x="10567" y="1"/>
                        <a:pt x="10476" y="33"/>
                        <a:pt x="10397" y="102"/>
                      </a:cubicBezTo>
                      <a:cubicBezTo>
                        <a:pt x="9389" y="826"/>
                        <a:pt x="8538" y="952"/>
                        <a:pt x="8034" y="952"/>
                      </a:cubicBezTo>
                      <a:cubicBezTo>
                        <a:pt x="7310" y="952"/>
                        <a:pt x="6396" y="637"/>
                        <a:pt x="5766" y="165"/>
                      </a:cubicBezTo>
                      <a:cubicBezTo>
                        <a:pt x="5703" y="102"/>
                        <a:pt x="5616" y="70"/>
                        <a:pt x="5526" y="70"/>
                      </a:cubicBezTo>
                      <a:cubicBezTo>
                        <a:pt x="5435" y="70"/>
                        <a:pt x="5341" y="102"/>
                        <a:pt x="5262" y="165"/>
                      </a:cubicBezTo>
                      <a:cubicBezTo>
                        <a:pt x="4632" y="637"/>
                        <a:pt x="3781" y="952"/>
                        <a:pt x="3025" y="952"/>
                      </a:cubicBezTo>
                      <a:cubicBezTo>
                        <a:pt x="2237" y="952"/>
                        <a:pt x="1450" y="637"/>
                        <a:pt x="662" y="102"/>
                      </a:cubicBezTo>
                      <a:cubicBezTo>
                        <a:pt x="582" y="40"/>
                        <a:pt x="495" y="13"/>
                        <a:pt x="411" y="13"/>
                      </a:cubicBezTo>
                      <a:cubicBezTo>
                        <a:pt x="196" y="13"/>
                        <a:pt x="0" y="190"/>
                        <a:pt x="0" y="417"/>
                      </a:cubicBezTo>
                      <a:lnTo>
                        <a:pt x="0" y="5237"/>
                      </a:lnTo>
                      <a:cubicBezTo>
                        <a:pt x="0" y="8608"/>
                        <a:pt x="2080" y="11601"/>
                        <a:pt x="5388" y="12641"/>
                      </a:cubicBezTo>
                      <a:cubicBezTo>
                        <a:pt x="5419" y="12641"/>
                        <a:pt x="5451" y="12672"/>
                        <a:pt x="5514" y="12672"/>
                      </a:cubicBezTo>
                      <a:cubicBezTo>
                        <a:pt x="5545" y="12672"/>
                        <a:pt x="5577" y="12672"/>
                        <a:pt x="5640" y="12641"/>
                      </a:cubicBezTo>
                      <a:cubicBezTo>
                        <a:pt x="8979" y="11538"/>
                        <a:pt x="11027" y="8513"/>
                        <a:pt x="11027" y="5237"/>
                      </a:cubicBezTo>
                      <a:lnTo>
                        <a:pt x="11027" y="417"/>
                      </a:lnTo>
                      <a:cubicBezTo>
                        <a:pt x="11027" y="157"/>
                        <a:pt x="10848" y="1"/>
                        <a:pt x="10654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" name="Google Shape;213;p21"/>
                <p:cNvSpPr/>
                <p:nvPr/>
              </p:nvSpPr>
              <p:spPr>
                <a:xfrm>
                  <a:off x="-62390600" y="2016700"/>
                  <a:ext cx="63025" cy="146525"/>
                </a:xfrm>
                <a:custGeom>
                  <a:rect b="b" l="l" r="r" t="t"/>
                  <a:pathLst>
                    <a:path extrusionOk="0" h="5861" w="2521">
                      <a:moveTo>
                        <a:pt x="1261" y="1"/>
                      </a:moveTo>
                      <a:cubicBezTo>
                        <a:pt x="1009" y="1"/>
                        <a:pt x="820" y="190"/>
                        <a:pt x="820" y="410"/>
                      </a:cubicBezTo>
                      <a:lnTo>
                        <a:pt x="820" y="694"/>
                      </a:lnTo>
                      <a:cubicBezTo>
                        <a:pt x="347" y="851"/>
                        <a:pt x="1" y="1324"/>
                        <a:pt x="1" y="1891"/>
                      </a:cubicBezTo>
                      <a:cubicBezTo>
                        <a:pt x="1" y="2553"/>
                        <a:pt x="536" y="2931"/>
                        <a:pt x="977" y="3246"/>
                      </a:cubicBezTo>
                      <a:cubicBezTo>
                        <a:pt x="1292" y="3498"/>
                        <a:pt x="1639" y="3718"/>
                        <a:pt x="1639" y="3970"/>
                      </a:cubicBezTo>
                      <a:cubicBezTo>
                        <a:pt x="1639" y="4191"/>
                        <a:pt x="1450" y="4411"/>
                        <a:pt x="1261" y="4411"/>
                      </a:cubicBezTo>
                      <a:cubicBezTo>
                        <a:pt x="1040" y="4411"/>
                        <a:pt x="820" y="4191"/>
                        <a:pt x="820" y="3970"/>
                      </a:cubicBezTo>
                      <a:cubicBezTo>
                        <a:pt x="820" y="3718"/>
                        <a:pt x="631" y="3561"/>
                        <a:pt x="410" y="3561"/>
                      </a:cubicBezTo>
                      <a:cubicBezTo>
                        <a:pt x="221" y="3561"/>
                        <a:pt x="32" y="3781"/>
                        <a:pt x="32" y="3970"/>
                      </a:cubicBezTo>
                      <a:cubicBezTo>
                        <a:pt x="32" y="4506"/>
                        <a:pt x="379" y="4947"/>
                        <a:pt x="851" y="5136"/>
                      </a:cubicBezTo>
                      <a:lnTo>
                        <a:pt x="851" y="5419"/>
                      </a:lnTo>
                      <a:cubicBezTo>
                        <a:pt x="851" y="5671"/>
                        <a:pt x="1040" y="5861"/>
                        <a:pt x="1292" y="5861"/>
                      </a:cubicBezTo>
                      <a:cubicBezTo>
                        <a:pt x="1513" y="5861"/>
                        <a:pt x="1670" y="5671"/>
                        <a:pt x="1670" y="5419"/>
                      </a:cubicBezTo>
                      <a:lnTo>
                        <a:pt x="1670" y="5136"/>
                      </a:lnTo>
                      <a:cubicBezTo>
                        <a:pt x="2143" y="4978"/>
                        <a:pt x="2521" y="4506"/>
                        <a:pt x="2521" y="3970"/>
                      </a:cubicBezTo>
                      <a:cubicBezTo>
                        <a:pt x="2521" y="3309"/>
                        <a:pt x="1954" y="2899"/>
                        <a:pt x="1513" y="2584"/>
                      </a:cubicBezTo>
                      <a:cubicBezTo>
                        <a:pt x="1198" y="2363"/>
                        <a:pt x="851" y="2111"/>
                        <a:pt x="851" y="1891"/>
                      </a:cubicBezTo>
                      <a:cubicBezTo>
                        <a:pt x="851" y="1670"/>
                        <a:pt x="1040" y="1481"/>
                        <a:pt x="1261" y="1481"/>
                      </a:cubicBezTo>
                      <a:cubicBezTo>
                        <a:pt x="1481" y="1481"/>
                        <a:pt x="1639" y="1670"/>
                        <a:pt x="1639" y="1891"/>
                      </a:cubicBezTo>
                      <a:cubicBezTo>
                        <a:pt x="1639" y="2111"/>
                        <a:pt x="1828" y="2300"/>
                        <a:pt x="2080" y="2300"/>
                      </a:cubicBezTo>
                      <a:cubicBezTo>
                        <a:pt x="2300" y="2300"/>
                        <a:pt x="2458" y="2111"/>
                        <a:pt x="2458" y="1891"/>
                      </a:cubicBezTo>
                      <a:cubicBezTo>
                        <a:pt x="2458" y="1324"/>
                        <a:pt x="2111" y="883"/>
                        <a:pt x="1639" y="694"/>
                      </a:cubicBezTo>
                      <a:lnTo>
                        <a:pt x="1639" y="410"/>
                      </a:lnTo>
                      <a:cubicBezTo>
                        <a:pt x="1639" y="190"/>
                        <a:pt x="1450" y="1"/>
                        <a:pt x="1261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4" name="Google Shape;214;p21"/>
              <p:cNvSpPr/>
              <p:nvPr/>
            </p:nvSpPr>
            <p:spPr>
              <a:xfrm rot="-2335865">
                <a:off x="1282220" y="2987424"/>
                <a:ext cx="2473961" cy="131843"/>
              </a:xfrm>
              <a:prstGeom prst="roundRect">
                <a:avLst>
                  <a:gd fmla="val 16667" name="adj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1"/>
              <p:cNvSpPr txBox="1"/>
              <p:nvPr/>
            </p:nvSpPr>
            <p:spPr>
              <a:xfrm>
                <a:off x="1184650" y="4155825"/>
                <a:ext cx="2669100" cy="96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chemeClr val="dk1"/>
                    </a:solidFill>
                  </a:rPr>
                  <a:t>Lack of audibility</a:t>
                </a:r>
                <a:endParaRPr sz="2200">
                  <a:solidFill>
                    <a:schemeClr val="dk1"/>
                  </a:solidFill>
                </a:endParaRPr>
              </a:p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chemeClr val="dk1"/>
                    </a:solidFill>
                  </a:rPr>
                  <a:t>in traditional finance</a:t>
                </a:r>
                <a:endParaRPr sz="2200"/>
              </a:p>
            </p:txBody>
          </p:sp>
          <p:grpSp>
            <p:nvGrpSpPr>
              <p:cNvPr id="216" name="Google Shape;216;p21"/>
              <p:cNvGrpSpPr/>
              <p:nvPr/>
            </p:nvGrpSpPr>
            <p:grpSpPr>
              <a:xfrm>
                <a:off x="7526116" y="1729377"/>
                <a:ext cx="2669106" cy="2578606"/>
                <a:chOff x="4936894" y="1729372"/>
                <a:chExt cx="1981666" cy="1914475"/>
              </a:xfrm>
            </p:grpSpPr>
            <p:grpSp>
              <p:nvGrpSpPr>
                <p:cNvPr id="217" name="Google Shape;217;p21"/>
                <p:cNvGrpSpPr/>
                <p:nvPr/>
              </p:nvGrpSpPr>
              <p:grpSpPr>
                <a:xfrm>
                  <a:off x="4936894" y="2182931"/>
                  <a:ext cx="1011192" cy="931162"/>
                  <a:chOff x="-62518200" y="2692475"/>
                  <a:chExt cx="318225" cy="289100"/>
                </a:xfrm>
              </p:grpSpPr>
              <p:sp>
                <p:nvSpPr>
                  <p:cNvPr id="218" name="Google Shape;218;p21"/>
                  <p:cNvSpPr/>
                  <p:nvPr/>
                </p:nvSpPr>
                <p:spPr>
                  <a:xfrm>
                    <a:off x="-62518200" y="2692475"/>
                    <a:ext cx="318225" cy="289100"/>
                  </a:xfrm>
                  <a:custGeom>
                    <a:rect b="b" l="l" r="r" t="t"/>
                    <a:pathLst>
                      <a:path extrusionOk="0" h="11564" w="12729">
                        <a:moveTo>
                          <a:pt x="3750" y="851"/>
                        </a:moveTo>
                        <a:cubicBezTo>
                          <a:pt x="5420" y="851"/>
                          <a:pt x="6617" y="1513"/>
                          <a:pt x="6617" y="2112"/>
                        </a:cubicBezTo>
                        <a:cubicBezTo>
                          <a:pt x="6617" y="2679"/>
                          <a:pt x="5420" y="3309"/>
                          <a:pt x="3750" y="3309"/>
                        </a:cubicBezTo>
                        <a:cubicBezTo>
                          <a:pt x="2206" y="3309"/>
                          <a:pt x="851" y="2679"/>
                          <a:pt x="851" y="2112"/>
                        </a:cubicBezTo>
                        <a:cubicBezTo>
                          <a:pt x="851" y="1481"/>
                          <a:pt x="2112" y="851"/>
                          <a:pt x="3750" y="851"/>
                        </a:cubicBezTo>
                        <a:close/>
                        <a:moveTo>
                          <a:pt x="6617" y="3403"/>
                        </a:moveTo>
                        <a:lnTo>
                          <a:pt x="6617" y="3781"/>
                        </a:lnTo>
                        <a:cubicBezTo>
                          <a:pt x="5829" y="4222"/>
                          <a:pt x="5199" y="4884"/>
                          <a:pt x="4821" y="5672"/>
                        </a:cubicBezTo>
                        <a:cubicBezTo>
                          <a:pt x="4475" y="5766"/>
                          <a:pt x="4096" y="5766"/>
                          <a:pt x="3750" y="5766"/>
                        </a:cubicBezTo>
                        <a:cubicBezTo>
                          <a:pt x="2206" y="5766"/>
                          <a:pt x="851" y="5136"/>
                          <a:pt x="851" y="4506"/>
                        </a:cubicBezTo>
                        <a:lnTo>
                          <a:pt x="851" y="3403"/>
                        </a:lnTo>
                        <a:cubicBezTo>
                          <a:pt x="1639" y="3939"/>
                          <a:pt x="2742" y="4159"/>
                          <a:pt x="3750" y="4159"/>
                        </a:cubicBezTo>
                        <a:cubicBezTo>
                          <a:pt x="4727" y="4159"/>
                          <a:pt x="5829" y="3939"/>
                          <a:pt x="6617" y="3403"/>
                        </a:cubicBezTo>
                        <a:close/>
                        <a:moveTo>
                          <a:pt x="883" y="5913"/>
                        </a:moveTo>
                        <a:cubicBezTo>
                          <a:pt x="1396" y="6254"/>
                          <a:pt x="2361" y="6617"/>
                          <a:pt x="3750" y="6617"/>
                        </a:cubicBezTo>
                        <a:cubicBezTo>
                          <a:pt x="4033" y="6617"/>
                          <a:pt x="4254" y="6617"/>
                          <a:pt x="4538" y="6585"/>
                        </a:cubicBezTo>
                        <a:lnTo>
                          <a:pt x="4538" y="6585"/>
                        </a:lnTo>
                        <a:cubicBezTo>
                          <a:pt x="4475" y="6869"/>
                          <a:pt x="4475" y="7184"/>
                          <a:pt x="4475" y="7467"/>
                        </a:cubicBezTo>
                        <a:cubicBezTo>
                          <a:pt x="4475" y="7719"/>
                          <a:pt x="4506" y="7971"/>
                          <a:pt x="4538" y="8255"/>
                        </a:cubicBezTo>
                        <a:cubicBezTo>
                          <a:pt x="4317" y="8287"/>
                          <a:pt x="4033" y="8287"/>
                          <a:pt x="3781" y="8287"/>
                        </a:cubicBezTo>
                        <a:cubicBezTo>
                          <a:pt x="2269" y="8287"/>
                          <a:pt x="883" y="7656"/>
                          <a:pt x="883" y="7026"/>
                        </a:cubicBezTo>
                        <a:lnTo>
                          <a:pt x="883" y="5913"/>
                        </a:lnTo>
                        <a:close/>
                        <a:moveTo>
                          <a:pt x="851" y="8350"/>
                        </a:moveTo>
                        <a:cubicBezTo>
                          <a:pt x="1639" y="8917"/>
                          <a:pt x="2773" y="9106"/>
                          <a:pt x="3750" y="9106"/>
                        </a:cubicBezTo>
                        <a:cubicBezTo>
                          <a:pt x="4096" y="9106"/>
                          <a:pt x="4412" y="9074"/>
                          <a:pt x="4727" y="9043"/>
                        </a:cubicBezTo>
                        <a:cubicBezTo>
                          <a:pt x="4979" y="9547"/>
                          <a:pt x="5294" y="10019"/>
                          <a:pt x="5672" y="10397"/>
                        </a:cubicBezTo>
                        <a:cubicBezTo>
                          <a:pt x="5136" y="10649"/>
                          <a:pt x="4475" y="10775"/>
                          <a:pt x="3750" y="10775"/>
                        </a:cubicBezTo>
                        <a:cubicBezTo>
                          <a:pt x="2112" y="10775"/>
                          <a:pt x="851" y="10082"/>
                          <a:pt x="851" y="9547"/>
                        </a:cubicBezTo>
                        <a:lnTo>
                          <a:pt x="851" y="8350"/>
                        </a:lnTo>
                        <a:close/>
                        <a:moveTo>
                          <a:pt x="8570" y="4159"/>
                        </a:moveTo>
                        <a:cubicBezTo>
                          <a:pt x="10366" y="4159"/>
                          <a:pt x="11878" y="5640"/>
                          <a:pt x="11878" y="7467"/>
                        </a:cubicBezTo>
                        <a:cubicBezTo>
                          <a:pt x="11878" y="9263"/>
                          <a:pt x="10366" y="10775"/>
                          <a:pt x="8570" y="10775"/>
                        </a:cubicBezTo>
                        <a:cubicBezTo>
                          <a:pt x="6743" y="10775"/>
                          <a:pt x="5262" y="9263"/>
                          <a:pt x="5262" y="7467"/>
                        </a:cubicBezTo>
                        <a:cubicBezTo>
                          <a:pt x="5262" y="5609"/>
                          <a:pt x="6743" y="4159"/>
                          <a:pt x="8570" y="4159"/>
                        </a:cubicBezTo>
                        <a:close/>
                        <a:moveTo>
                          <a:pt x="3781" y="1"/>
                        </a:moveTo>
                        <a:cubicBezTo>
                          <a:pt x="1797" y="1"/>
                          <a:pt x="64" y="851"/>
                          <a:pt x="64" y="2112"/>
                        </a:cubicBezTo>
                        <a:lnTo>
                          <a:pt x="64" y="9547"/>
                        </a:lnTo>
                        <a:cubicBezTo>
                          <a:pt x="1" y="10082"/>
                          <a:pt x="442" y="10649"/>
                          <a:pt x="1230" y="11027"/>
                        </a:cubicBezTo>
                        <a:cubicBezTo>
                          <a:pt x="1891" y="11405"/>
                          <a:pt x="2805" y="11563"/>
                          <a:pt x="3750" y="11563"/>
                        </a:cubicBezTo>
                        <a:cubicBezTo>
                          <a:pt x="4790" y="11563"/>
                          <a:pt x="5735" y="11311"/>
                          <a:pt x="6428" y="10964"/>
                        </a:cubicBezTo>
                        <a:cubicBezTo>
                          <a:pt x="7058" y="11342"/>
                          <a:pt x="7814" y="11563"/>
                          <a:pt x="8602" y="11563"/>
                        </a:cubicBezTo>
                        <a:cubicBezTo>
                          <a:pt x="10870" y="11563"/>
                          <a:pt x="12729" y="9704"/>
                          <a:pt x="12729" y="7404"/>
                        </a:cubicBezTo>
                        <a:cubicBezTo>
                          <a:pt x="12729" y="5136"/>
                          <a:pt x="10870" y="3277"/>
                          <a:pt x="8602" y="3277"/>
                        </a:cubicBezTo>
                        <a:cubicBezTo>
                          <a:pt x="8192" y="3277"/>
                          <a:pt x="7846" y="3309"/>
                          <a:pt x="7499" y="3435"/>
                        </a:cubicBezTo>
                        <a:lnTo>
                          <a:pt x="7499" y="2049"/>
                        </a:lnTo>
                        <a:cubicBezTo>
                          <a:pt x="7499" y="1481"/>
                          <a:pt x="7058" y="914"/>
                          <a:pt x="6302" y="536"/>
                        </a:cubicBezTo>
                        <a:cubicBezTo>
                          <a:pt x="5640" y="158"/>
                          <a:pt x="4727" y="1"/>
                          <a:pt x="3781" y="1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9" name="Google Shape;219;p21"/>
                  <p:cNvSpPr/>
                  <p:nvPr/>
                </p:nvSpPr>
                <p:spPr>
                  <a:xfrm>
                    <a:off x="-62335475" y="2804325"/>
                    <a:ext cx="62250" cy="146525"/>
                  </a:xfrm>
                  <a:custGeom>
                    <a:rect b="b" l="l" r="r" t="t"/>
                    <a:pathLst>
                      <a:path extrusionOk="0" h="5861" w="2490">
                        <a:moveTo>
                          <a:pt x="1261" y="0"/>
                        </a:moveTo>
                        <a:cubicBezTo>
                          <a:pt x="1009" y="0"/>
                          <a:pt x="820" y="189"/>
                          <a:pt x="820" y="410"/>
                        </a:cubicBezTo>
                        <a:lnTo>
                          <a:pt x="820" y="694"/>
                        </a:lnTo>
                        <a:cubicBezTo>
                          <a:pt x="348" y="851"/>
                          <a:pt x="1" y="1324"/>
                          <a:pt x="1" y="1891"/>
                        </a:cubicBezTo>
                        <a:cubicBezTo>
                          <a:pt x="1" y="2552"/>
                          <a:pt x="537" y="2930"/>
                          <a:pt x="978" y="3245"/>
                        </a:cubicBezTo>
                        <a:cubicBezTo>
                          <a:pt x="1293" y="3497"/>
                          <a:pt x="1639" y="3718"/>
                          <a:pt x="1639" y="3970"/>
                        </a:cubicBezTo>
                        <a:cubicBezTo>
                          <a:pt x="1671" y="4254"/>
                          <a:pt x="1482" y="4411"/>
                          <a:pt x="1261" y="4411"/>
                        </a:cubicBezTo>
                        <a:cubicBezTo>
                          <a:pt x="1009" y="4411"/>
                          <a:pt x="820" y="4191"/>
                          <a:pt x="820" y="3970"/>
                        </a:cubicBezTo>
                        <a:cubicBezTo>
                          <a:pt x="820" y="3718"/>
                          <a:pt x="631" y="3529"/>
                          <a:pt x="411" y="3529"/>
                        </a:cubicBezTo>
                        <a:cubicBezTo>
                          <a:pt x="190" y="3529"/>
                          <a:pt x="1" y="3718"/>
                          <a:pt x="1" y="3970"/>
                        </a:cubicBezTo>
                        <a:cubicBezTo>
                          <a:pt x="1" y="4506"/>
                          <a:pt x="348" y="4947"/>
                          <a:pt x="820" y="5136"/>
                        </a:cubicBezTo>
                        <a:lnTo>
                          <a:pt x="820" y="5419"/>
                        </a:lnTo>
                        <a:cubicBezTo>
                          <a:pt x="820" y="5671"/>
                          <a:pt x="1009" y="5860"/>
                          <a:pt x="1261" y="5860"/>
                        </a:cubicBezTo>
                        <a:cubicBezTo>
                          <a:pt x="1482" y="5860"/>
                          <a:pt x="1639" y="5671"/>
                          <a:pt x="1639" y="5419"/>
                        </a:cubicBezTo>
                        <a:lnTo>
                          <a:pt x="1639" y="5136"/>
                        </a:lnTo>
                        <a:cubicBezTo>
                          <a:pt x="2112" y="4978"/>
                          <a:pt x="2458" y="4506"/>
                          <a:pt x="2458" y="3970"/>
                        </a:cubicBezTo>
                        <a:cubicBezTo>
                          <a:pt x="2458" y="3308"/>
                          <a:pt x="1923" y="2899"/>
                          <a:pt x="1482" y="2584"/>
                        </a:cubicBezTo>
                        <a:cubicBezTo>
                          <a:pt x="1167" y="2363"/>
                          <a:pt x="820" y="2111"/>
                          <a:pt x="820" y="1891"/>
                        </a:cubicBezTo>
                        <a:cubicBezTo>
                          <a:pt x="820" y="1639"/>
                          <a:pt x="1009" y="1450"/>
                          <a:pt x="1261" y="1450"/>
                        </a:cubicBezTo>
                        <a:cubicBezTo>
                          <a:pt x="1482" y="1450"/>
                          <a:pt x="1639" y="1639"/>
                          <a:pt x="1639" y="1891"/>
                        </a:cubicBezTo>
                        <a:cubicBezTo>
                          <a:pt x="1639" y="2111"/>
                          <a:pt x="1860" y="2300"/>
                          <a:pt x="2049" y="2300"/>
                        </a:cubicBezTo>
                        <a:cubicBezTo>
                          <a:pt x="2269" y="2300"/>
                          <a:pt x="2490" y="2111"/>
                          <a:pt x="2490" y="1891"/>
                        </a:cubicBezTo>
                        <a:cubicBezTo>
                          <a:pt x="2490" y="1324"/>
                          <a:pt x="2112" y="883"/>
                          <a:pt x="1639" y="694"/>
                        </a:cubicBezTo>
                        <a:lnTo>
                          <a:pt x="1639" y="410"/>
                        </a:lnTo>
                        <a:cubicBezTo>
                          <a:pt x="1639" y="189"/>
                          <a:pt x="1450" y="0"/>
                          <a:pt x="1261" y="0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0" name="Google Shape;220;p21"/>
                <p:cNvGrpSpPr/>
                <p:nvPr/>
              </p:nvGrpSpPr>
              <p:grpSpPr>
                <a:xfrm>
                  <a:off x="5978889" y="3222672"/>
                  <a:ext cx="475197" cy="421175"/>
                  <a:chOff x="-65131525" y="1914325"/>
                  <a:chExt cx="316650" cy="316625"/>
                </a:xfrm>
              </p:grpSpPr>
              <p:sp>
                <p:nvSpPr>
                  <p:cNvPr id="221" name="Google Shape;221;p21"/>
                  <p:cNvSpPr/>
                  <p:nvPr/>
                </p:nvSpPr>
                <p:spPr>
                  <a:xfrm>
                    <a:off x="-65024400" y="1949750"/>
                    <a:ext cx="103175" cy="247350"/>
                  </a:xfrm>
                  <a:custGeom>
                    <a:rect b="b" l="l" r="r" t="t"/>
                    <a:pathLst>
                      <a:path extrusionOk="0" h="9894" w="4127">
                        <a:moveTo>
                          <a:pt x="2048" y="1"/>
                        </a:moveTo>
                        <a:cubicBezTo>
                          <a:pt x="1859" y="1"/>
                          <a:pt x="1638" y="190"/>
                          <a:pt x="1638" y="379"/>
                        </a:cubicBezTo>
                        <a:lnTo>
                          <a:pt x="1638" y="851"/>
                        </a:lnTo>
                        <a:cubicBezTo>
                          <a:pt x="725" y="1040"/>
                          <a:pt x="0" y="1891"/>
                          <a:pt x="0" y="2868"/>
                        </a:cubicBezTo>
                        <a:cubicBezTo>
                          <a:pt x="0" y="3970"/>
                          <a:pt x="977" y="4632"/>
                          <a:pt x="1827" y="5262"/>
                        </a:cubicBezTo>
                        <a:cubicBezTo>
                          <a:pt x="2552" y="5829"/>
                          <a:pt x="3308" y="6333"/>
                          <a:pt x="3308" y="6995"/>
                        </a:cubicBezTo>
                        <a:cubicBezTo>
                          <a:pt x="3308" y="7656"/>
                          <a:pt x="2772" y="8255"/>
                          <a:pt x="2079" y="8255"/>
                        </a:cubicBezTo>
                        <a:cubicBezTo>
                          <a:pt x="1418" y="8255"/>
                          <a:pt x="851" y="7688"/>
                          <a:pt x="851" y="6995"/>
                        </a:cubicBezTo>
                        <a:cubicBezTo>
                          <a:pt x="851" y="6774"/>
                          <a:pt x="662" y="6617"/>
                          <a:pt x="441" y="6617"/>
                        </a:cubicBezTo>
                        <a:cubicBezTo>
                          <a:pt x="189" y="6617"/>
                          <a:pt x="32" y="6806"/>
                          <a:pt x="32" y="6995"/>
                        </a:cubicBezTo>
                        <a:cubicBezTo>
                          <a:pt x="32" y="7971"/>
                          <a:pt x="756" y="8854"/>
                          <a:pt x="1701" y="9011"/>
                        </a:cubicBezTo>
                        <a:lnTo>
                          <a:pt x="1701" y="9484"/>
                        </a:lnTo>
                        <a:cubicBezTo>
                          <a:pt x="1701" y="9704"/>
                          <a:pt x="1890" y="9893"/>
                          <a:pt x="2079" y="9893"/>
                        </a:cubicBezTo>
                        <a:cubicBezTo>
                          <a:pt x="2268" y="9893"/>
                          <a:pt x="2489" y="9704"/>
                          <a:pt x="2489" y="9484"/>
                        </a:cubicBezTo>
                        <a:lnTo>
                          <a:pt x="2489" y="9011"/>
                        </a:lnTo>
                        <a:cubicBezTo>
                          <a:pt x="3434" y="8791"/>
                          <a:pt x="4127" y="7971"/>
                          <a:pt x="4127" y="6995"/>
                        </a:cubicBezTo>
                        <a:cubicBezTo>
                          <a:pt x="4127" y="5892"/>
                          <a:pt x="3151" y="5231"/>
                          <a:pt x="2331" y="4600"/>
                        </a:cubicBezTo>
                        <a:cubicBezTo>
                          <a:pt x="1575" y="4033"/>
                          <a:pt x="819" y="3529"/>
                          <a:pt x="819" y="2868"/>
                        </a:cubicBezTo>
                        <a:cubicBezTo>
                          <a:pt x="788" y="2143"/>
                          <a:pt x="1386" y="1607"/>
                          <a:pt x="2048" y="1607"/>
                        </a:cubicBezTo>
                        <a:cubicBezTo>
                          <a:pt x="2709" y="1607"/>
                          <a:pt x="3277" y="2143"/>
                          <a:pt x="3277" y="2868"/>
                        </a:cubicBezTo>
                        <a:cubicBezTo>
                          <a:pt x="3277" y="3088"/>
                          <a:pt x="3466" y="3246"/>
                          <a:pt x="3686" y="3246"/>
                        </a:cubicBezTo>
                        <a:cubicBezTo>
                          <a:pt x="3938" y="3246"/>
                          <a:pt x="4096" y="3057"/>
                          <a:pt x="4096" y="2868"/>
                        </a:cubicBezTo>
                        <a:cubicBezTo>
                          <a:pt x="4096" y="1891"/>
                          <a:pt x="3371" y="1009"/>
                          <a:pt x="2426" y="851"/>
                        </a:cubicBezTo>
                        <a:lnTo>
                          <a:pt x="2426" y="379"/>
                        </a:lnTo>
                        <a:cubicBezTo>
                          <a:pt x="2426" y="158"/>
                          <a:pt x="2237" y="1"/>
                          <a:pt x="2048" y="1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" name="Google Shape;222;p21"/>
                  <p:cNvSpPr/>
                  <p:nvPr/>
                </p:nvSpPr>
                <p:spPr>
                  <a:xfrm>
                    <a:off x="-65131525" y="1914325"/>
                    <a:ext cx="316650" cy="316625"/>
                  </a:xfrm>
                  <a:custGeom>
                    <a:rect b="b" l="l" r="r" t="t"/>
                    <a:pathLst>
                      <a:path extrusionOk="0" h="12665" w="12666">
                        <a:moveTo>
                          <a:pt x="6333" y="819"/>
                        </a:moveTo>
                        <a:cubicBezTo>
                          <a:pt x="9357" y="819"/>
                          <a:pt x="11846" y="3308"/>
                          <a:pt x="11846" y="6332"/>
                        </a:cubicBezTo>
                        <a:cubicBezTo>
                          <a:pt x="11846" y="9357"/>
                          <a:pt x="9357" y="11846"/>
                          <a:pt x="6333" y="11846"/>
                        </a:cubicBezTo>
                        <a:cubicBezTo>
                          <a:pt x="3308" y="11846"/>
                          <a:pt x="819" y="9357"/>
                          <a:pt x="819" y="6332"/>
                        </a:cubicBezTo>
                        <a:cubicBezTo>
                          <a:pt x="819" y="3308"/>
                          <a:pt x="3308" y="819"/>
                          <a:pt x="6333" y="819"/>
                        </a:cubicBezTo>
                        <a:close/>
                        <a:moveTo>
                          <a:pt x="6333" y="0"/>
                        </a:moveTo>
                        <a:cubicBezTo>
                          <a:pt x="2836" y="0"/>
                          <a:pt x="0" y="2835"/>
                          <a:pt x="0" y="6332"/>
                        </a:cubicBezTo>
                        <a:cubicBezTo>
                          <a:pt x="0" y="9830"/>
                          <a:pt x="2836" y="12665"/>
                          <a:pt x="6333" y="12665"/>
                        </a:cubicBezTo>
                        <a:cubicBezTo>
                          <a:pt x="9830" y="12665"/>
                          <a:pt x="12665" y="9830"/>
                          <a:pt x="12665" y="6332"/>
                        </a:cubicBezTo>
                        <a:cubicBezTo>
                          <a:pt x="12665" y="2835"/>
                          <a:pt x="9830" y="0"/>
                          <a:pt x="6333" y="0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3" name="Google Shape;223;p21"/>
                <p:cNvGrpSpPr/>
                <p:nvPr/>
              </p:nvGrpSpPr>
              <p:grpSpPr>
                <a:xfrm>
                  <a:off x="6443364" y="2755860"/>
                  <a:ext cx="475197" cy="421175"/>
                  <a:chOff x="-65131525" y="1914325"/>
                  <a:chExt cx="316650" cy="316625"/>
                </a:xfrm>
              </p:grpSpPr>
              <p:sp>
                <p:nvSpPr>
                  <p:cNvPr id="224" name="Google Shape;224;p21"/>
                  <p:cNvSpPr/>
                  <p:nvPr/>
                </p:nvSpPr>
                <p:spPr>
                  <a:xfrm>
                    <a:off x="-65024400" y="1949750"/>
                    <a:ext cx="103175" cy="247350"/>
                  </a:xfrm>
                  <a:custGeom>
                    <a:rect b="b" l="l" r="r" t="t"/>
                    <a:pathLst>
                      <a:path extrusionOk="0" h="9894" w="4127">
                        <a:moveTo>
                          <a:pt x="2048" y="1"/>
                        </a:moveTo>
                        <a:cubicBezTo>
                          <a:pt x="1859" y="1"/>
                          <a:pt x="1638" y="190"/>
                          <a:pt x="1638" y="379"/>
                        </a:cubicBezTo>
                        <a:lnTo>
                          <a:pt x="1638" y="851"/>
                        </a:lnTo>
                        <a:cubicBezTo>
                          <a:pt x="725" y="1040"/>
                          <a:pt x="0" y="1891"/>
                          <a:pt x="0" y="2868"/>
                        </a:cubicBezTo>
                        <a:cubicBezTo>
                          <a:pt x="0" y="3970"/>
                          <a:pt x="977" y="4632"/>
                          <a:pt x="1827" y="5262"/>
                        </a:cubicBezTo>
                        <a:cubicBezTo>
                          <a:pt x="2552" y="5829"/>
                          <a:pt x="3308" y="6333"/>
                          <a:pt x="3308" y="6995"/>
                        </a:cubicBezTo>
                        <a:cubicBezTo>
                          <a:pt x="3308" y="7656"/>
                          <a:pt x="2772" y="8255"/>
                          <a:pt x="2079" y="8255"/>
                        </a:cubicBezTo>
                        <a:cubicBezTo>
                          <a:pt x="1418" y="8255"/>
                          <a:pt x="851" y="7688"/>
                          <a:pt x="851" y="6995"/>
                        </a:cubicBezTo>
                        <a:cubicBezTo>
                          <a:pt x="851" y="6774"/>
                          <a:pt x="662" y="6617"/>
                          <a:pt x="441" y="6617"/>
                        </a:cubicBezTo>
                        <a:cubicBezTo>
                          <a:pt x="189" y="6617"/>
                          <a:pt x="32" y="6806"/>
                          <a:pt x="32" y="6995"/>
                        </a:cubicBezTo>
                        <a:cubicBezTo>
                          <a:pt x="32" y="7971"/>
                          <a:pt x="756" y="8854"/>
                          <a:pt x="1701" y="9011"/>
                        </a:cubicBezTo>
                        <a:lnTo>
                          <a:pt x="1701" y="9484"/>
                        </a:lnTo>
                        <a:cubicBezTo>
                          <a:pt x="1701" y="9704"/>
                          <a:pt x="1890" y="9893"/>
                          <a:pt x="2079" y="9893"/>
                        </a:cubicBezTo>
                        <a:cubicBezTo>
                          <a:pt x="2268" y="9893"/>
                          <a:pt x="2489" y="9704"/>
                          <a:pt x="2489" y="9484"/>
                        </a:cubicBezTo>
                        <a:lnTo>
                          <a:pt x="2489" y="9011"/>
                        </a:lnTo>
                        <a:cubicBezTo>
                          <a:pt x="3434" y="8791"/>
                          <a:pt x="4127" y="7971"/>
                          <a:pt x="4127" y="6995"/>
                        </a:cubicBezTo>
                        <a:cubicBezTo>
                          <a:pt x="4127" y="5892"/>
                          <a:pt x="3151" y="5231"/>
                          <a:pt x="2331" y="4600"/>
                        </a:cubicBezTo>
                        <a:cubicBezTo>
                          <a:pt x="1575" y="4033"/>
                          <a:pt x="819" y="3529"/>
                          <a:pt x="819" y="2868"/>
                        </a:cubicBezTo>
                        <a:cubicBezTo>
                          <a:pt x="788" y="2143"/>
                          <a:pt x="1386" y="1607"/>
                          <a:pt x="2048" y="1607"/>
                        </a:cubicBezTo>
                        <a:cubicBezTo>
                          <a:pt x="2709" y="1607"/>
                          <a:pt x="3277" y="2143"/>
                          <a:pt x="3277" y="2868"/>
                        </a:cubicBezTo>
                        <a:cubicBezTo>
                          <a:pt x="3277" y="3088"/>
                          <a:pt x="3466" y="3246"/>
                          <a:pt x="3686" y="3246"/>
                        </a:cubicBezTo>
                        <a:cubicBezTo>
                          <a:pt x="3938" y="3246"/>
                          <a:pt x="4096" y="3057"/>
                          <a:pt x="4096" y="2868"/>
                        </a:cubicBezTo>
                        <a:cubicBezTo>
                          <a:pt x="4096" y="1891"/>
                          <a:pt x="3371" y="1009"/>
                          <a:pt x="2426" y="851"/>
                        </a:cubicBezTo>
                        <a:lnTo>
                          <a:pt x="2426" y="379"/>
                        </a:lnTo>
                        <a:cubicBezTo>
                          <a:pt x="2426" y="158"/>
                          <a:pt x="2237" y="1"/>
                          <a:pt x="2048" y="1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5" name="Google Shape;225;p21"/>
                  <p:cNvSpPr/>
                  <p:nvPr/>
                </p:nvSpPr>
                <p:spPr>
                  <a:xfrm>
                    <a:off x="-65131525" y="1914325"/>
                    <a:ext cx="316650" cy="316625"/>
                  </a:xfrm>
                  <a:custGeom>
                    <a:rect b="b" l="l" r="r" t="t"/>
                    <a:pathLst>
                      <a:path extrusionOk="0" h="12665" w="12666">
                        <a:moveTo>
                          <a:pt x="6333" y="819"/>
                        </a:moveTo>
                        <a:cubicBezTo>
                          <a:pt x="9357" y="819"/>
                          <a:pt x="11846" y="3308"/>
                          <a:pt x="11846" y="6332"/>
                        </a:cubicBezTo>
                        <a:cubicBezTo>
                          <a:pt x="11846" y="9357"/>
                          <a:pt x="9357" y="11846"/>
                          <a:pt x="6333" y="11846"/>
                        </a:cubicBezTo>
                        <a:cubicBezTo>
                          <a:pt x="3308" y="11846"/>
                          <a:pt x="819" y="9357"/>
                          <a:pt x="819" y="6332"/>
                        </a:cubicBezTo>
                        <a:cubicBezTo>
                          <a:pt x="819" y="3308"/>
                          <a:pt x="3308" y="819"/>
                          <a:pt x="6333" y="819"/>
                        </a:cubicBezTo>
                        <a:close/>
                        <a:moveTo>
                          <a:pt x="6333" y="0"/>
                        </a:moveTo>
                        <a:cubicBezTo>
                          <a:pt x="2836" y="0"/>
                          <a:pt x="0" y="2835"/>
                          <a:pt x="0" y="6332"/>
                        </a:cubicBezTo>
                        <a:cubicBezTo>
                          <a:pt x="0" y="9830"/>
                          <a:pt x="2836" y="12665"/>
                          <a:pt x="6333" y="12665"/>
                        </a:cubicBezTo>
                        <a:cubicBezTo>
                          <a:pt x="9830" y="12665"/>
                          <a:pt x="12665" y="9830"/>
                          <a:pt x="12665" y="6332"/>
                        </a:cubicBezTo>
                        <a:cubicBezTo>
                          <a:pt x="12665" y="2835"/>
                          <a:pt x="9830" y="0"/>
                          <a:pt x="6333" y="0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6" name="Google Shape;226;p21"/>
                <p:cNvGrpSpPr/>
                <p:nvPr/>
              </p:nvGrpSpPr>
              <p:grpSpPr>
                <a:xfrm>
                  <a:off x="5978889" y="1729372"/>
                  <a:ext cx="475197" cy="421175"/>
                  <a:chOff x="-65131525" y="1914325"/>
                  <a:chExt cx="316650" cy="316625"/>
                </a:xfrm>
              </p:grpSpPr>
              <p:sp>
                <p:nvSpPr>
                  <p:cNvPr id="227" name="Google Shape;227;p21"/>
                  <p:cNvSpPr/>
                  <p:nvPr/>
                </p:nvSpPr>
                <p:spPr>
                  <a:xfrm>
                    <a:off x="-65024400" y="1949750"/>
                    <a:ext cx="103175" cy="247350"/>
                  </a:xfrm>
                  <a:custGeom>
                    <a:rect b="b" l="l" r="r" t="t"/>
                    <a:pathLst>
                      <a:path extrusionOk="0" h="9894" w="4127">
                        <a:moveTo>
                          <a:pt x="2048" y="1"/>
                        </a:moveTo>
                        <a:cubicBezTo>
                          <a:pt x="1859" y="1"/>
                          <a:pt x="1638" y="190"/>
                          <a:pt x="1638" y="379"/>
                        </a:cubicBezTo>
                        <a:lnTo>
                          <a:pt x="1638" y="851"/>
                        </a:lnTo>
                        <a:cubicBezTo>
                          <a:pt x="725" y="1040"/>
                          <a:pt x="0" y="1891"/>
                          <a:pt x="0" y="2868"/>
                        </a:cubicBezTo>
                        <a:cubicBezTo>
                          <a:pt x="0" y="3970"/>
                          <a:pt x="977" y="4632"/>
                          <a:pt x="1827" y="5262"/>
                        </a:cubicBezTo>
                        <a:cubicBezTo>
                          <a:pt x="2552" y="5829"/>
                          <a:pt x="3308" y="6333"/>
                          <a:pt x="3308" y="6995"/>
                        </a:cubicBezTo>
                        <a:cubicBezTo>
                          <a:pt x="3308" y="7656"/>
                          <a:pt x="2772" y="8255"/>
                          <a:pt x="2079" y="8255"/>
                        </a:cubicBezTo>
                        <a:cubicBezTo>
                          <a:pt x="1418" y="8255"/>
                          <a:pt x="851" y="7688"/>
                          <a:pt x="851" y="6995"/>
                        </a:cubicBezTo>
                        <a:cubicBezTo>
                          <a:pt x="851" y="6774"/>
                          <a:pt x="662" y="6617"/>
                          <a:pt x="441" y="6617"/>
                        </a:cubicBezTo>
                        <a:cubicBezTo>
                          <a:pt x="189" y="6617"/>
                          <a:pt x="32" y="6806"/>
                          <a:pt x="32" y="6995"/>
                        </a:cubicBezTo>
                        <a:cubicBezTo>
                          <a:pt x="32" y="7971"/>
                          <a:pt x="756" y="8854"/>
                          <a:pt x="1701" y="9011"/>
                        </a:cubicBezTo>
                        <a:lnTo>
                          <a:pt x="1701" y="9484"/>
                        </a:lnTo>
                        <a:cubicBezTo>
                          <a:pt x="1701" y="9704"/>
                          <a:pt x="1890" y="9893"/>
                          <a:pt x="2079" y="9893"/>
                        </a:cubicBezTo>
                        <a:cubicBezTo>
                          <a:pt x="2268" y="9893"/>
                          <a:pt x="2489" y="9704"/>
                          <a:pt x="2489" y="9484"/>
                        </a:cubicBezTo>
                        <a:lnTo>
                          <a:pt x="2489" y="9011"/>
                        </a:lnTo>
                        <a:cubicBezTo>
                          <a:pt x="3434" y="8791"/>
                          <a:pt x="4127" y="7971"/>
                          <a:pt x="4127" y="6995"/>
                        </a:cubicBezTo>
                        <a:cubicBezTo>
                          <a:pt x="4127" y="5892"/>
                          <a:pt x="3151" y="5231"/>
                          <a:pt x="2331" y="4600"/>
                        </a:cubicBezTo>
                        <a:cubicBezTo>
                          <a:pt x="1575" y="4033"/>
                          <a:pt x="819" y="3529"/>
                          <a:pt x="819" y="2868"/>
                        </a:cubicBezTo>
                        <a:cubicBezTo>
                          <a:pt x="788" y="2143"/>
                          <a:pt x="1386" y="1607"/>
                          <a:pt x="2048" y="1607"/>
                        </a:cubicBezTo>
                        <a:cubicBezTo>
                          <a:pt x="2709" y="1607"/>
                          <a:pt x="3277" y="2143"/>
                          <a:pt x="3277" y="2868"/>
                        </a:cubicBezTo>
                        <a:cubicBezTo>
                          <a:pt x="3277" y="3088"/>
                          <a:pt x="3466" y="3246"/>
                          <a:pt x="3686" y="3246"/>
                        </a:cubicBezTo>
                        <a:cubicBezTo>
                          <a:pt x="3938" y="3246"/>
                          <a:pt x="4096" y="3057"/>
                          <a:pt x="4096" y="2868"/>
                        </a:cubicBezTo>
                        <a:cubicBezTo>
                          <a:pt x="4096" y="1891"/>
                          <a:pt x="3371" y="1009"/>
                          <a:pt x="2426" y="851"/>
                        </a:cubicBezTo>
                        <a:lnTo>
                          <a:pt x="2426" y="379"/>
                        </a:lnTo>
                        <a:cubicBezTo>
                          <a:pt x="2426" y="158"/>
                          <a:pt x="2237" y="1"/>
                          <a:pt x="2048" y="1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8" name="Google Shape;228;p21"/>
                  <p:cNvSpPr/>
                  <p:nvPr/>
                </p:nvSpPr>
                <p:spPr>
                  <a:xfrm>
                    <a:off x="-65131525" y="1914325"/>
                    <a:ext cx="316650" cy="316625"/>
                  </a:xfrm>
                  <a:custGeom>
                    <a:rect b="b" l="l" r="r" t="t"/>
                    <a:pathLst>
                      <a:path extrusionOk="0" h="12665" w="12666">
                        <a:moveTo>
                          <a:pt x="6333" y="819"/>
                        </a:moveTo>
                        <a:cubicBezTo>
                          <a:pt x="9357" y="819"/>
                          <a:pt x="11846" y="3308"/>
                          <a:pt x="11846" y="6332"/>
                        </a:cubicBezTo>
                        <a:cubicBezTo>
                          <a:pt x="11846" y="9357"/>
                          <a:pt x="9357" y="11846"/>
                          <a:pt x="6333" y="11846"/>
                        </a:cubicBezTo>
                        <a:cubicBezTo>
                          <a:pt x="3308" y="11846"/>
                          <a:pt x="819" y="9357"/>
                          <a:pt x="819" y="6332"/>
                        </a:cubicBezTo>
                        <a:cubicBezTo>
                          <a:pt x="819" y="3308"/>
                          <a:pt x="3308" y="819"/>
                          <a:pt x="6333" y="819"/>
                        </a:cubicBezTo>
                        <a:close/>
                        <a:moveTo>
                          <a:pt x="6333" y="0"/>
                        </a:moveTo>
                        <a:cubicBezTo>
                          <a:pt x="2836" y="0"/>
                          <a:pt x="0" y="2835"/>
                          <a:pt x="0" y="6332"/>
                        </a:cubicBezTo>
                        <a:cubicBezTo>
                          <a:pt x="0" y="9830"/>
                          <a:pt x="2836" y="12665"/>
                          <a:pt x="6333" y="12665"/>
                        </a:cubicBezTo>
                        <a:cubicBezTo>
                          <a:pt x="9830" y="12665"/>
                          <a:pt x="12665" y="9830"/>
                          <a:pt x="12665" y="6332"/>
                        </a:cubicBezTo>
                        <a:cubicBezTo>
                          <a:pt x="12665" y="2835"/>
                          <a:pt x="9830" y="0"/>
                          <a:pt x="6333" y="0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9" name="Google Shape;229;p21"/>
                <p:cNvGrpSpPr/>
                <p:nvPr/>
              </p:nvGrpSpPr>
              <p:grpSpPr>
                <a:xfrm>
                  <a:off x="6436089" y="2106722"/>
                  <a:ext cx="475197" cy="421175"/>
                  <a:chOff x="-65131525" y="1914325"/>
                  <a:chExt cx="316650" cy="316625"/>
                </a:xfrm>
              </p:grpSpPr>
              <p:sp>
                <p:nvSpPr>
                  <p:cNvPr id="230" name="Google Shape;230;p21"/>
                  <p:cNvSpPr/>
                  <p:nvPr/>
                </p:nvSpPr>
                <p:spPr>
                  <a:xfrm>
                    <a:off x="-65024400" y="1949750"/>
                    <a:ext cx="103175" cy="247350"/>
                  </a:xfrm>
                  <a:custGeom>
                    <a:rect b="b" l="l" r="r" t="t"/>
                    <a:pathLst>
                      <a:path extrusionOk="0" h="9894" w="4127">
                        <a:moveTo>
                          <a:pt x="2048" y="1"/>
                        </a:moveTo>
                        <a:cubicBezTo>
                          <a:pt x="1859" y="1"/>
                          <a:pt x="1638" y="190"/>
                          <a:pt x="1638" y="379"/>
                        </a:cubicBezTo>
                        <a:lnTo>
                          <a:pt x="1638" y="851"/>
                        </a:lnTo>
                        <a:cubicBezTo>
                          <a:pt x="725" y="1040"/>
                          <a:pt x="0" y="1891"/>
                          <a:pt x="0" y="2868"/>
                        </a:cubicBezTo>
                        <a:cubicBezTo>
                          <a:pt x="0" y="3970"/>
                          <a:pt x="977" y="4632"/>
                          <a:pt x="1827" y="5262"/>
                        </a:cubicBezTo>
                        <a:cubicBezTo>
                          <a:pt x="2552" y="5829"/>
                          <a:pt x="3308" y="6333"/>
                          <a:pt x="3308" y="6995"/>
                        </a:cubicBezTo>
                        <a:cubicBezTo>
                          <a:pt x="3308" y="7656"/>
                          <a:pt x="2772" y="8255"/>
                          <a:pt x="2079" y="8255"/>
                        </a:cubicBezTo>
                        <a:cubicBezTo>
                          <a:pt x="1418" y="8255"/>
                          <a:pt x="851" y="7688"/>
                          <a:pt x="851" y="6995"/>
                        </a:cubicBezTo>
                        <a:cubicBezTo>
                          <a:pt x="851" y="6774"/>
                          <a:pt x="662" y="6617"/>
                          <a:pt x="441" y="6617"/>
                        </a:cubicBezTo>
                        <a:cubicBezTo>
                          <a:pt x="189" y="6617"/>
                          <a:pt x="32" y="6806"/>
                          <a:pt x="32" y="6995"/>
                        </a:cubicBezTo>
                        <a:cubicBezTo>
                          <a:pt x="32" y="7971"/>
                          <a:pt x="756" y="8854"/>
                          <a:pt x="1701" y="9011"/>
                        </a:cubicBezTo>
                        <a:lnTo>
                          <a:pt x="1701" y="9484"/>
                        </a:lnTo>
                        <a:cubicBezTo>
                          <a:pt x="1701" y="9704"/>
                          <a:pt x="1890" y="9893"/>
                          <a:pt x="2079" y="9893"/>
                        </a:cubicBezTo>
                        <a:cubicBezTo>
                          <a:pt x="2268" y="9893"/>
                          <a:pt x="2489" y="9704"/>
                          <a:pt x="2489" y="9484"/>
                        </a:cubicBezTo>
                        <a:lnTo>
                          <a:pt x="2489" y="9011"/>
                        </a:lnTo>
                        <a:cubicBezTo>
                          <a:pt x="3434" y="8791"/>
                          <a:pt x="4127" y="7971"/>
                          <a:pt x="4127" y="6995"/>
                        </a:cubicBezTo>
                        <a:cubicBezTo>
                          <a:pt x="4127" y="5892"/>
                          <a:pt x="3151" y="5231"/>
                          <a:pt x="2331" y="4600"/>
                        </a:cubicBezTo>
                        <a:cubicBezTo>
                          <a:pt x="1575" y="4033"/>
                          <a:pt x="819" y="3529"/>
                          <a:pt x="819" y="2868"/>
                        </a:cubicBezTo>
                        <a:cubicBezTo>
                          <a:pt x="788" y="2143"/>
                          <a:pt x="1386" y="1607"/>
                          <a:pt x="2048" y="1607"/>
                        </a:cubicBezTo>
                        <a:cubicBezTo>
                          <a:pt x="2709" y="1607"/>
                          <a:pt x="3277" y="2143"/>
                          <a:pt x="3277" y="2868"/>
                        </a:cubicBezTo>
                        <a:cubicBezTo>
                          <a:pt x="3277" y="3088"/>
                          <a:pt x="3466" y="3246"/>
                          <a:pt x="3686" y="3246"/>
                        </a:cubicBezTo>
                        <a:cubicBezTo>
                          <a:pt x="3938" y="3246"/>
                          <a:pt x="4096" y="3057"/>
                          <a:pt x="4096" y="2868"/>
                        </a:cubicBezTo>
                        <a:cubicBezTo>
                          <a:pt x="4096" y="1891"/>
                          <a:pt x="3371" y="1009"/>
                          <a:pt x="2426" y="851"/>
                        </a:cubicBezTo>
                        <a:lnTo>
                          <a:pt x="2426" y="379"/>
                        </a:lnTo>
                        <a:cubicBezTo>
                          <a:pt x="2426" y="158"/>
                          <a:pt x="2237" y="1"/>
                          <a:pt x="2048" y="1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31" name="Google Shape;231;p21"/>
                  <p:cNvSpPr/>
                  <p:nvPr/>
                </p:nvSpPr>
                <p:spPr>
                  <a:xfrm>
                    <a:off x="-65131525" y="1914325"/>
                    <a:ext cx="316650" cy="316625"/>
                  </a:xfrm>
                  <a:custGeom>
                    <a:rect b="b" l="l" r="r" t="t"/>
                    <a:pathLst>
                      <a:path extrusionOk="0" h="12665" w="12666">
                        <a:moveTo>
                          <a:pt x="6333" y="819"/>
                        </a:moveTo>
                        <a:cubicBezTo>
                          <a:pt x="9357" y="819"/>
                          <a:pt x="11846" y="3308"/>
                          <a:pt x="11846" y="6332"/>
                        </a:cubicBezTo>
                        <a:cubicBezTo>
                          <a:pt x="11846" y="9357"/>
                          <a:pt x="9357" y="11846"/>
                          <a:pt x="6333" y="11846"/>
                        </a:cubicBezTo>
                        <a:cubicBezTo>
                          <a:pt x="3308" y="11846"/>
                          <a:pt x="819" y="9357"/>
                          <a:pt x="819" y="6332"/>
                        </a:cubicBezTo>
                        <a:cubicBezTo>
                          <a:pt x="819" y="3308"/>
                          <a:pt x="3308" y="819"/>
                          <a:pt x="6333" y="819"/>
                        </a:cubicBezTo>
                        <a:close/>
                        <a:moveTo>
                          <a:pt x="6333" y="0"/>
                        </a:moveTo>
                        <a:cubicBezTo>
                          <a:pt x="2836" y="0"/>
                          <a:pt x="0" y="2835"/>
                          <a:pt x="0" y="6332"/>
                        </a:cubicBezTo>
                        <a:cubicBezTo>
                          <a:pt x="0" y="9830"/>
                          <a:pt x="2836" y="12665"/>
                          <a:pt x="6333" y="12665"/>
                        </a:cubicBezTo>
                        <a:cubicBezTo>
                          <a:pt x="9830" y="12665"/>
                          <a:pt x="12665" y="9830"/>
                          <a:pt x="12665" y="6332"/>
                        </a:cubicBezTo>
                        <a:cubicBezTo>
                          <a:pt x="12665" y="2835"/>
                          <a:pt x="9830" y="0"/>
                          <a:pt x="6333" y="0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 cap="flat" cmpd="sng" w="19050">
                    <a:solidFill>
                      <a:srgbClr val="5F7D9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cxnSp>
              <p:nvCxnSpPr>
                <p:cNvPr id="232" name="Google Shape;232;p21"/>
                <p:cNvCxnSpPr/>
                <p:nvPr/>
              </p:nvCxnSpPr>
              <p:spPr>
                <a:xfrm flipH="1" rot="10800000">
                  <a:off x="5602550" y="2030100"/>
                  <a:ext cx="259500" cy="2040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5F7D95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233" name="Google Shape;233;p21"/>
                <p:cNvCxnSpPr/>
                <p:nvPr/>
              </p:nvCxnSpPr>
              <p:spPr>
                <a:xfrm flipH="1" rot="10800000">
                  <a:off x="6010325" y="2438000"/>
                  <a:ext cx="370800" cy="166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5F7D95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234" name="Google Shape;234;p21"/>
                <p:cNvCxnSpPr/>
                <p:nvPr/>
              </p:nvCxnSpPr>
              <p:spPr>
                <a:xfrm>
                  <a:off x="6010325" y="2909600"/>
                  <a:ext cx="370800" cy="288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5F7D95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235" name="Google Shape;235;p21"/>
                <p:cNvCxnSpPr/>
                <p:nvPr/>
              </p:nvCxnSpPr>
              <p:spPr>
                <a:xfrm>
                  <a:off x="5806450" y="3105250"/>
                  <a:ext cx="185400" cy="1482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5F7D95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236" name="Google Shape;236;p21"/>
              <p:cNvSpPr txBox="1"/>
              <p:nvPr/>
            </p:nvSpPr>
            <p:spPr>
              <a:xfrm>
                <a:off x="6997675" y="4155825"/>
                <a:ext cx="3726000" cy="96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200">
                    <a:solidFill>
                      <a:schemeClr val="dk1"/>
                    </a:solidFill>
                  </a:rPr>
                  <a:t>Split assets for investing</a:t>
                </a:r>
                <a:endParaRPr sz="2200"/>
              </a:p>
            </p:txBody>
          </p:sp>
          <p:sp>
            <p:nvSpPr>
              <p:cNvPr id="237" name="Google Shape;237;p21"/>
              <p:cNvSpPr/>
              <p:nvPr/>
            </p:nvSpPr>
            <p:spPr>
              <a:xfrm>
                <a:off x="4253600" y="3072300"/>
                <a:ext cx="2401200" cy="4449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rgbClr val="5F7D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id="238" name="Google Shape;23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3200" y="1697000"/>
              <a:ext cx="1372800" cy="137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21"/>
            <p:cNvSpPr txBox="1"/>
            <p:nvPr/>
          </p:nvSpPr>
          <p:spPr>
            <a:xfrm>
              <a:off x="4406875" y="3165225"/>
              <a:ext cx="2001000" cy="960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Blockchain</a:t>
              </a:r>
              <a:endParaRPr sz="2200"/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3641950" y="4104550"/>
            <a:ext cx="3892500" cy="2355450"/>
            <a:chOff x="3641950" y="4104550"/>
            <a:chExt cx="3892500" cy="2355450"/>
          </a:xfrm>
        </p:grpSpPr>
        <p:grpSp>
          <p:nvGrpSpPr>
            <p:cNvPr id="241" name="Google Shape;241;p21"/>
            <p:cNvGrpSpPr/>
            <p:nvPr/>
          </p:nvGrpSpPr>
          <p:grpSpPr>
            <a:xfrm>
              <a:off x="3641950" y="5292400"/>
              <a:ext cx="3892500" cy="1167600"/>
              <a:chOff x="4175350" y="5292400"/>
              <a:chExt cx="3892500" cy="1167600"/>
            </a:xfrm>
          </p:grpSpPr>
          <p:sp>
            <p:nvSpPr>
              <p:cNvPr id="242" name="Google Shape;242;p21"/>
              <p:cNvSpPr/>
              <p:nvPr/>
            </p:nvSpPr>
            <p:spPr>
              <a:xfrm>
                <a:off x="4175350" y="5292400"/>
                <a:ext cx="3892500" cy="1167600"/>
              </a:xfrm>
              <a:prstGeom prst="roundRect">
                <a:avLst>
                  <a:gd fmla="val 16667" name="adj"/>
                </a:avLst>
              </a:prstGeom>
              <a:solidFill>
                <a:srgbClr val="D1E84A">
                  <a:alpha val="3801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1"/>
              <p:cNvSpPr txBox="1"/>
              <p:nvPr/>
            </p:nvSpPr>
            <p:spPr>
              <a:xfrm>
                <a:off x="4175350" y="5438200"/>
                <a:ext cx="3892500" cy="87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200">
                    <a:solidFill>
                      <a:schemeClr val="dk1"/>
                    </a:solidFill>
                  </a:rPr>
                  <a:t>P</a:t>
                </a:r>
                <a:r>
                  <a:rPr lang="en-US" sz="2200">
                    <a:solidFill>
                      <a:schemeClr val="dk1"/>
                    </a:solidFill>
                  </a:rPr>
                  <a:t>ortfolio sold-out problem </a:t>
                </a:r>
                <a:endParaRPr sz="2200">
                  <a:solidFill>
                    <a:schemeClr val="dk1"/>
                  </a:solidFill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2200">
                    <a:solidFill>
                      <a:schemeClr val="dk1"/>
                    </a:solidFill>
                  </a:rPr>
                  <a:t>for DeFi lending protocols</a:t>
                </a:r>
                <a:endParaRPr sz="2200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244" name="Google Shape;244;p21"/>
            <p:cNvSpPr/>
            <p:nvPr/>
          </p:nvSpPr>
          <p:spPr>
            <a:xfrm>
              <a:off x="5300950" y="4104550"/>
              <a:ext cx="574500" cy="9453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>
            <p:ph idx="12" type="sldNum"/>
          </p:nvPr>
        </p:nvSpPr>
        <p:spPr>
          <a:xfrm>
            <a:off x="11502686" y="286873"/>
            <a:ext cx="36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250" name="Google Shape;250;p22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Sold-Out: Problem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066" y="1349651"/>
            <a:ext cx="8462490" cy="289380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1452337" y="5277310"/>
            <a:ext cx="9894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construct as many packages as possible for a given token set?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 txBox="1"/>
          <p:nvPr>
            <p:ph idx="12" type="sldNum"/>
          </p:nvPr>
        </p:nvSpPr>
        <p:spPr>
          <a:xfrm>
            <a:off x="11502686" y="286873"/>
            <a:ext cx="36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Sold-Out: Objective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2953653" y="5476890"/>
            <a:ext cx="51519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 a matrix with the maximum possible number of columns under given restriction.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4589" y="1781591"/>
            <a:ext cx="6581714" cy="3510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idx="12" type="sldNum"/>
          </p:nvPr>
        </p:nvSpPr>
        <p:spPr>
          <a:xfrm>
            <a:off x="11502686" y="286873"/>
            <a:ext cx="36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266" name="Google Shape;266;p24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Sold-Out Problem: Notations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643103" y="1303444"/>
            <a:ext cx="10443600" cy="488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049" l="-1099" r="-1059" t="-1129"/>
            </a:stretch>
          </a:blipFill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 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idx="12" type="sldNum"/>
          </p:nvPr>
        </p:nvSpPr>
        <p:spPr>
          <a:xfrm>
            <a:off x="11502686" y="286873"/>
            <a:ext cx="36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273" name="Google Shape;273;p25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Sold-Out Problem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43103" y="1303444"/>
            <a:ext cx="9612000" cy="5306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79" r="-1349" t="-1249"/>
            </a:stretch>
          </a:blipFill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 </a:t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>
            <p:ph idx="12" type="sldNum"/>
          </p:nvPr>
        </p:nvSpPr>
        <p:spPr>
          <a:xfrm>
            <a:off x="11502686" y="286873"/>
            <a:ext cx="369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26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Portfolio Sold-Out Problem: Special Cases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504470" y="2042768"/>
            <a:ext cx="6053700" cy="3084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309" l="-2139" r="0" t="-2159"/>
            </a:stretch>
          </a:blipFill>
          <a:ln>
            <a:noFill/>
          </a:ln>
        </p:spPr>
        <p:txBody>
          <a:bodyPr anchorCtr="0" anchor="t" bIns="27700" lIns="55425" spcFirstLastPara="1" rIns="55425" wrap="square" tIns="27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 </a:t>
            </a:r>
            <a:endParaRPr sz="800"/>
          </a:p>
        </p:txBody>
      </p:sp>
      <p:graphicFrame>
        <p:nvGraphicFramePr>
          <p:cNvPr id="282" name="Google Shape;282;p26"/>
          <p:cNvGraphicFramePr/>
          <p:nvPr/>
        </p:nvGraphicFramePr>
        <p:xfrm>
          <a:off x="6560861" y="26896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{58EB1F70-52EF-4EB4-AD53-3C9FF0DFE4CE}</a:tableStyleId>
              </a:tblPr>
              <a:tblGrid>
                <a:gridCol w="1601975"/>
                <a:gridCol w="1601975"/>
                <a:gridCol w="1601975"/>
              </a:tblGrid>
              <a:tr h="40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 u="none" cap="none" strike="noStrike"/>
                    </a:p>
                  </a:txBody>
                  <a:tcPr marT="27725" marB="27725" marR="55475" marL="554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Discrete</a:t>
                      </a:r>
                      <a:endParaRPr sz="2000" u="none" cap="none" strike="noStrike"/>
                    </a:p>
                  </a:txBody>
                  <a:tcPr marT="27725" marB="27725" marR="55475" marL="5547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Continuous</a:t>
                      </a:r>
                      <a:endParaRPr sz="2000" u="none" cap="none" strike="noStrike"/>
                    </a:p>
                  </a:txBody>
                  <a:tcPr marT="27725" marB="27725" marR="55475" marL="55475"/>
                </a:tc>
              </a:tr>
              <a:tr h="40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Homogeneous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725" marB="27725" marR="55475" marL="5547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optimal</a:t>
                      </a:r>
                      <a:endParaRPr sz="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solution</a:t>
                      </a:r>
                      <a:endParaRPr sz="2000" u="none" cap="none" strike="noStrike"/>
                    </a:p>
                  </a:txBody>
                  <a:tcPr marT="27725" marB="27725" marR="55475" marL="55475">
                    <a:solidFill>
                      <a:srgbClr val="4F612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optimal</a:t>
                      </a:r>
                      <a:endParaRPr sz="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solution</a:t>
                      </a:r>
                      <a:endParaRPr sz="2000" u="none" cap="none" strike="noStrike"/>
                    </a:p>
                  </a:txBody>
                  <a:tcPr marT="27725" marB="27725" marR="55475" marL="55475">
                    <a:solidFill>
                      <a:srgbClr val="4F6128"/>
                    </a:solidFill>
                  </a:tcPr>
                </a:tc>
              </a:tr>
              <a:tr h="40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Independent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725" marB="27725" marR="55475" marL="5547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to be solved</a:t>
                      </a:r>
                      <a:endParaRPr sz="2000" u="none" cap="none" strike="noStrike"/>
                    </a:p>
                  </a:txBody>
                  <a:tcPr marT="27725" marB="27725" marR="55475" marL="55475">
                    <a:solidFill>
                      <a:srgbClr val="E36C0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to be solved</a:t>
                      </a:r>
                      <a:endParaRPr sz="2000" u="none" cap="none" strike="noStrike"/>
                    </a:p>
                  </a:txBody>
                  <a:tcPr marT="27725" marB="27725" marR="55475" marL="55475">
                    <a:solidFill>
                      <a:srgbClr val="E36C09"/>
                    </a:solidFill>
                  </a:tcPr>
                </a:tc>
              </a:tr>
              <a:tr h="40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</a:t>
                      </a:r>
                      <a:endParaRPr b="1" sz="20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725" marB="27725" marR="55475" marL="5547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/>
                        <a:t>to be solved</a:t>
                      </a:r>
                      <a:endParaRPr sz="2000" u="none" cap="none" strike="noStrike"/>
                    </a:p>
                  </a:txBody>
                  <a:tcPr marT="27725" marB="27725" marR="55475" marL="55475"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numerical</a:t>
                      </a:r>
                      <a:endParaRPr sz="8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solution</a:t>
                      </a:r>
                      <a:endParaRPr sz="2000" u="none" cap="none" strike="noStrike"/>
                    </a:p>
                  </a:txBody>
                  <a:tcPr marT="27725" marB="27725" marR="55475" marL="55475">
                    <a:solidFill>
                      <a:srgbClr val="C2D59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MakerDao</a:t>
            </a:r>
            <a:endParaRPr sz="4000"/>
          </a:p>
        </p:txBody>
      </p:sp>
      <p:pic>
        <p:nvPicPr>
          <p:cNvPr id="288" name="Google Shape;2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950" y="1570300"/>
            <a:ext cx="7881349" cy="48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292350" y="1570304"/>
            <a:ext cx="98943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5433675" y="4217375"/>
            <a:ext cx="481800" cy="4818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4260425" y="4699175"/>
            <a:ext cx="481800" cy="4818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4260425" y="3164075"/>
            <a:ext cx="481800" cy="4818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3" name="Google Shape;293;p27"/>
          <p:cNvCxnSpPr>
            <a:stCxn id="292" idx="6"/>
            <a:endCxn id="294" idx="1"/>
          </p:cNvCxnSpPr>
          <p:nvPr/>
        </p:nvCxnSpPr>
        <p:spPr>
          <a:xfrm flipH="1" rot="10800000">
            <a:off x="4742225" y="2326475"/>
            <a:ext cx="4427400" cy="10785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4" name="Google Shape;294;p27"/>
          <p:cNvSpPr txBox="1"/>
          <p:nvPr/>
        </p:nvSpPr>
        <p:spPr>
          <a:xfrm>
            <a:off x="9169525" y="1833925"/>
            <a:ext cx="2391000" cy="9852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ilk.pip</a:t>
            </a:r>
            <a:r>
              <a:rPr lang="en-US" sz="1600"/>
              <a:t>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holds the current price of a given ilk (collateral)</a:t>
            </a:r>
            <a:endParaRPr sz="1600"/>
          </a:p>
        </p:txBody>
      </p:sp>
      <p:sp>
        <p:nvSpPr>
          <p:cNvPr id="295" name="Google Shape;295;p27"/>
          <p:cNvSpPr txBox="1"/>
          <p:nvPr/>
        </p:nvSpPr>
        <p:spPr>
          <a:xfrm>
            <a:off x="9169525" y="3184925"/>
            <a:ext cx="2391000" cy="12315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Vat</a:t>
            </a:r>
            <a:r>
              <a:rPr lang="en-US" sz="1600"/>
              <a:t>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stores Vaults and tracks all the associated Dai and Collateral balances </a:t>
            </a:r>
            <a:endParaRPr sz="1600"/>
          </a:p>
        </p:txBody>
      </p:sp>
      <p:sp>
        <p:nvSpPr>
          <p:cNvPr id="296" name="Google Shape;296;p27"/>
          <p:cNvSpPr txBox="1"/>
          <p:nvPr/>
        </p:nvSpPr>
        <p:spPr>
          <a:xfrm>
            <a:off x="9169525" y="4785125"/>
            <a:ext cx="2391000" cy="1231500"/>
          </a:xfrm>
          <a:prstGeom prst="rect">
            <a:avLst/>
          </a:prstGeom>
          <a:solidFill>
            <a:srgbClr val="AAC50B">
              <a:alpha val="5204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Jug</a:t>
            </a:r>
            <a:r>
              <a:rPr lang="en-US" sz="1600"/>
              <a:t> 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accumulate stability fees for a particular collateral type </a:t>
            </a:r>
            <a:endParaRPr sz="1600"/>
          </a:p>
        </p:txBody>
      </p:sp>
      <p:cxnSp>
        <p:nvCxnSpPr>
          <p:cNvPr id="297" name="Google Shape;297;p27"/>
          <p:cNvCxnSpPr>
            <a:stCxn id="290" idx="6"/>
            <a:endCxn id="295" idx="1"/>
          </p:cNvCxnSpPr>
          <p:nvPr/>
        </p:nvCxnSpPr>
        <p:spPr>
          <a:xfrm flipH="1" rot="10800000">
            <a:off x="5915475" y="3800675"/>
            <a:ext cx="3254100" cy="6576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7"/>
          <p:cNvCxnSpPr>
            <a:stCxn id="291" idx="6"/>
            <a:endCxn id="296" idx="1"/>
          </p:cNvCxnSpPr>
          <p:nvPr/>
        </p:nvCxnSpPr>
        <p:spPr>
          <a:xfrm>
            <a:off x="4742225" y="4940075"/>
            <a:ext cx="4427400" cy="460800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"/>
          <p:cNvSpPr txBox="1"/>
          <p:nvPr/>
        </p:nvSpPr>
        <p:spPr>
          <a:xfrm>
            <a:off x="2868825" y="1838313"/>
            <a:ext cx="8487900" cy="23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Design and develop optimization method to obtain the optimal portfolio sold-out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Aim and objectives</a:t>
            </a:r>
            <a:endParaRPr sz="4000"/>
          </a:p>
        </p:txBody>
      </p:sp>
      <p:sp>
        <p:nvSpPr>
          <p:cNvPr id="306" name="Google Shape;306;p28"/>
          <p:cNvSpPr txBox="1"/>
          <p:nvPr/>
        </p:nvSpPr>
        <p:spPr>
          <a:xfrm>
            <a:off x="1296314" y="24639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1296316" y="4724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AAC50B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rgbClr val="AAC50B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2868825" y="4310025"/>
            <a:ext cx="871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Apply optimization method to the MakerDao dataset</a:t>
            </a:r>
            <a:endParaRPr sz="2800"/>
          </a:p>
        </p:txBody>
      </p:sp>
      <p:cxnSp>
        <p:nvCxnSpPr>
          <p:cNvPr id="309" name="Google Shape;309;p28"/>
          <p:cNvCxnSpPr/>
          <p:nvPr/>
        </p:nvCxnSpPr>
        <p:spPr>
          <a:xfrm>
            <a:off x="2641050" y="1956075"/>
            <a:ext cx="0" cy="2001900"/>
          </a:xfrm>
          <a:prstGeom prst="straightConnector1">
            <a:avLst/>
          </a:prstGeom>
          <a:noFill/>
          <a:ln cap="flat" cmpd="sng" w="9525">
            <a:solidFill>
              <a:srgbClr val="AAC50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8"/>
          <p:cNvCxnSpPr/>
          <p:nvPr/>
        </p:nvCxnSpPr>
        <p:spPr>
          <a:xfrm>
            <a:off x="2641050" y="4470675"/>
            <a:ext cx="0" cy="1581600"/>
          </a:xfrm>
          <a:prstGeom prst="straightConnector1">
            <a:avLst/>
          </a:prstGeom>
          <a:noFill/>
          <a:ln cap="flat" cmpd="sng" w="9525">
            <a:solidFill>
              <a:srgbClr val="AAC50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Methods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1093400" y="1787675"/>
            <a:ext cx="9942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Reduce portfolio sold-out to </a:t>
            </a:r>
            <a:r>
              <a:rPr lang="en-US" sz="2000"/>
              <a:t>Second-Order Cone Program (SOCP)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Prepare MakerDao dataset for tokenization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Apply SOCP solver to portfolio sold-out problem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"/>
          <p:cNvSpPr txBox="1"/>
          <p:nvPr>
            <p:ph idx="12" type="sldNum"/>
          </p:nvPr>
        </p:nvSpPr>
        <p:spPr>
          <a:xfrm>
            <a:off x="11502686" y="286873"/>
            <a:ext cx="3696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/>
              <a:t>‹#›</a:t>
            </a:fld>
            <a:endParaRPr sz="700"/>
          </a:p>
        </p:txBody>
      </p:sp>
      <p:sp>
        <p:nvSpPr>
          <p:cNvPr id="322" name="Google Shape;322;p30"/>
          <p:cNvSpPr/>
          <p:nvPr/>
        </p:nvSpPr>
        <p:spPr>
          <a:xfrm>
            <a:off x="458259" y="477258"/>
            <a:ext cx="115989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 Continuous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4146"/>
            <a:ext cx="11719875" cy="5322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0584" y="2920715"/>
            <a:ext cx="2414354" cy="253091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9172187" y="5654781"/>
            <a:ext cx="27681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700" lIns="55425" spcFirstLastPara="1" rIns="55425" wrap="square" tIns="27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LP: linear program, QP: quadratic program, SOCP second-order cone program, SDP: semidefinite program, CP: cone program.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Methods: Portfolio sold-out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331" name="Google Shape;33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100" y="1849400"/>
            <a:ext cx="3374225" cy="23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3652500" y="4402725"/>
            <a:ext cx="580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 : summation of investment proportion set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 : expected returns of each asset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K : covariance matrix of assets 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/>
          <p:nvPr/>
        </p:nvSpPr>
        <p:spPr>
          <a:xfrm>
            <a:off x="799900" y="1400025"/>
            <a:ext cx="10713300" cy="14814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2"/>
          <p:cNvSpPr/>
          <p:nvPr/>
        </p:nvSpPr>
        <p:spPr>
          <a:xfrm>
            <a:off x="799900" y="2957000"/>
            <a:ext cx="10713300" cy="25119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2"/>
          <p:cNvSpPr/>
          <p:nvPr/>
        </p:nvSpPr>
        <p:spPr>
          <a:xfrm>
            <a:off x="799900" y="5544500"/>
            <a:ext cx="10713300" cy="1143600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2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Methods: E</a:t>
            </a:r>
            <a:r>
              <a:rPr lang="en-US" sz="4000">
                <a:solidFill>
                  <a:schemeClr val="dk1"/>
                </a:solidFill>
              </a:rPr>
              <a:t>conomic Statistics </a:t>
            </a:r>
            <a:endParaRPr sz="4000">
              <a:solidFill>
                <a:schemeClr val="dk1"/>
              </a:solidFill>
            </a:endParaRPr>
          </a:p>
        </p:txBody>
      </p:sp>
      <p:grpSp>
        <p:nvGrpSpPr>
          <p:cNvPr id="341" name="Google Shape;341;p32"/>
          <p:cNvGrpSpPr/>
          <p:nvPr/>
        </p:nvGrpSpPr>
        <p:grpSpPr>
          <a:xfrm>
            <a:off x="904925" y="2956975"/>
            <a:ext cx="6546820" cy="2511925"/>
            <a:chOff x="904925" y="1352650"/>
            <a:chExt cx="6546820" cy="2511925"/>
          </a:xfrm>
        </p:grpSpPr>
        <p:sp>
          <p:nvSpPr>
            <p:cNvPr id="342" name="Google Shape;342;p32"/>
            <p:cNvSpPr txBox="1"/>
            <p:nvPr/>
          </p:nvSpPr>
          <p:spPr>
            <a:xfrm>
              <a:off x="904925" y="1352650"/>
              <a:ext cx="54390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/>
                <a:t>Probability of Default (PD)</a:t>
              </a:r>
              <a:endParaRPr sz="2600"/>
            </a:p>
          </p:txBody>
        </p:sp>
        <p:pic>
          <p:nvPicPr>
            <p:cNvPr id="343" name="Google Shape;34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91575" y="1906025"/>
              <a:ext cx="4660170" cy="1958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4" name="Google Shape;344;p32"/>
          <p:cNvGrpSpPr/>
          <p:nvPr/>
        </p:nvGrpSpPr>
        <p:grpSpPr>
          <a:xfrm>
            <a:off x="904925" y="1325250"/>
            <a:ext cx="5267649" cy="1555525"/>
            <a:chOff x="904925" y="4525650"/>
            <a:chExt cx="5267649" cy="1555525"/>
          </a:xfrm>
        </p:grpSpPr>
        <p:pic>
          <p:nvPicPr>
            <p:cNvPr id="345" name="Google Shape;345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62200" y="5061525"/>
              <a:ext cx="4410374" cy="1019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2"/>
            <p:cNvSpPr txBox="1"/>
            <p:nvPr/>
          </p:nvSpPr>
          <p:spPr>
            <a:xfrm>
              <a:off x="904925" y="4525650"/>
              <a:ext cx="50313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chemeClr val="dk1"/>
                  </a:solidFill>
                </a:rPr>
                <a:t>Loss Given Default (LGD)</a:t>
              </a:r>
              <a:endParaRPr sz="2600">
                <a:solidFill>
                  <a:schemeClr val="dk1"/>
                </a:solidFill>
              </a:endParaRPr>
            </a:p>
          </p:txBody>
        </p:sp>
      </p:grpSp>
      <p:sp>
        <p:nvSpPr>
          <p:cNvPr id="347" name="Google Shape;347;p32"/>
          <p:cNvSpPr txBox="1"/>
          <p:nvPr/>
        </p:nvSpPr>
        <p:spPr>
          <a:xfrm>
            <a:off x="6918525" y="2043625"/>
            <a:ext cx="4755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c</a:t>
            </a:r>
            <a:r>
              <a:rPr baseline="-25000" lang="en-US" sz="1600"/>
              <a:t>l</a:t>
            </a:r>
            <a:r>
              <a:rPr lang="en-US" sz="1600"/>
              <a:t> is locked collateral, c</a:t>
            </a:r>
            <a:r>
              <a:rPr baseline="-25000" lang="en-US" sz="1600"/>
              <a:t>t</a:t>
            </a:r>
            <a:r>
              <a:rPr lang="en-US" sz="1600"/>
              <a:t> is transferred collateral,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d is issued debt</a:t>
            </a:r>
            <a:endParaRPr sz="1600"/>
          </a:p>
        </p:txBody>
      </p:sp>
      <p:sp>
        <p:nvSpPr>
          <p:cNvPr id="348" name="Google Shape;348;p32"/>
          <p:cNvSpPr txBox="1"/>
          <p:nvPr/>
        </p:nvSpPr>
        <p:spPr>
          <a:xfrm>
            <a:off x="904925" y="5498913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Interest Rate</a:t>
            </a:r>
            <a:endParaRPr sz="2600"/>
          </a:p>
        </p:txBody>
      </p:sp>
      <p:sp>
        <p:nvSpPr>
          <p:cNvPr id="349" name="Google Shape;349;p32"/>
          <p:cNvSpPr txBox="1"/>
          <p:nvPr/>
        </p:nvSpPr>
        <p:spPr>
          <a:xfrm>
            <a:off x="1000900" y="60074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cumulative rate R at time T</a:t>
            </a:r>
            <a:endParaRPr sz="1600"/>
          </a:p>
        </p:txBody>
      </p:sp>
      <p:pic>
        <p:nvPicPr>
          <p:cNvPr id="350" name="Google Shape;35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4025" y="5847090"/>
            <a:ext cx="4616625" cy="827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33"/>
          <p:cNvGrpSpPr/>
          <p:nvPr/>
        </p:nvGrpSpPr>
        <p:grpSpPr>
          <a:xfrm>
            <a:off x="821700" y="1167300"/>
            <a:ext cx="10662900" cy="3002700"/>
            <a:chOff x="516900" y="862500"/>
            <a:chExt cx="10662900" cy="3002700"/>
          </a:xfrm>
        </p:grpSpPr>
        <p:sp>
          <p:nvSpPr>
            <p:cNvPr id="356" name="Google Shape;356;p33"/>
            <p:cNvSpPr txBox="1"/>
            <p:nvPr/>
          </p:nvSpPr>
          <p:spPr>
            <a:xfrm>
              <a:off x="7856600" y="1982200"/>
              <a:ext cx="3323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/>
                <a:t>web3 to decode input</a:t>
              </a:r>
              <a:endParaRPr b="1" sz="16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/>
                <a:t>(using contract address and API </a:t>
              </a:r>
              <a:endParaRPr sz="16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/>
                <a:t>of Vat contract)</a:t>
              </a:r>
              <a:endParaRPr sz="1600"/>
            </a:p>
          </p:txBody>
        </p:sp>
        <p:grpSp>
          <p:nvGrpSpPr>
            <p:cNvPr id="357" name="Google Shape;357;p33"/>
            <p:cNvGrpSpPr/>
            <p:nvPr/>
          </p:nvGrpSpPr>
          <p:grpSpPr>
            <a:xfrm>
              <a:off x="634307" y="1215060"/>
              <a:ext cx="6610588" cy="1011904"/>
              <a:chOff x="634325" y="1367502"/>
              <a:chExt cx="7448550" cy="1140173"/>
            </a:xfrm>
          </p:grpSpPr>
          <p:pic>
            <p:nvPicPr>
              <p:cNvPr id="358" name="Google Shape;358;p33"/>
              <p:cNvPicPr preferRelativeResize="0"/>
              <p:nvPr/>
            </p:nvPicPr>
            <p:blipFill rotWithShape="1">
              <a:blip r:embed="rId3">
                <a:alphaModFix/>
              </a:blip>
              <a:srcRect b="50738" l="0" r="0" t="0"/>
              <a:stretch/>
            </p:blipFill>
            <p:spPr>
              <a:xfrm>
                <a:off x="634325" y="1367502"/>
                <a:ext cx="7448550" cy="1126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9" name="Google Shape;359;p33"/>
              <p:cNvSpPr/>
              <p:nvPr/>
            </p:nvSpPr>
            <p:spPr>
              <a:xfrm>
                <a:off x="727825" y="1381475"/>
                <a:ext cx="7265700" cy="11262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" name="Google Shape;360;p33"/>
            <p:cNvGrpSpPr/>
            <p:nvPr/>
          </p:nvGrpSpPr>
          <p:grpSpPr>
            <a:xfrm>
              <a:off x="720077" y="2676992"/>
              <a:ext cx="6459573" cy="1011976"/>
              <a:chOff x="720050" y="2600675"/>
              <a:chExt cx="7273475" cy="1139485"/>
            </a:xfrm>
          </p:grpSpPr>
          <p:pic>
            <p:nvPicPr>
              <p:cNvPr id="361" name="Google Shape;361;p33"/>
              <p:cNvPicPr preferRelativeResize="0"/>
              <p:nvPr/>
            </p:nvPicPr>
            <p:blipFill rotWithShape="1">
              <a:blip r:embed="rId4">
                <a:alphaModFix/>
              </a:blip>
              <a:srcRect b="51608" l="0" r="0" t="0"/>
              <a:stretch/>
            </p:blipFill>
            <p:spPr>
              <a:xfrm>
                <a:off x="720050" y="2654650"/>
                <a:ext cx="7265700" cy="10855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2" name="Google Shape;362;p33"/>
              <p:cNvSpPr/>
              <p:nvPr/>
            </p:nvSpPr>
            <p:spPr>
              <a:xfrm>
                <a:off x="727825" y="2600675"/>
                <a:ext cx="7265700" cy="11262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3" name="Google Shape;363;p33"/>
            <p:cNvSpPr txBox="1"/>
            <p:nvPr/>
          </p:nvSpPr>
          <p:spPr>
            <a:xfrm>
              <a:off x="691650" y="862500"/>
              <a:ext cx="645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/>
                <a:t>Raw data</a:t>
              </a:r>
              <a:endParaRPr sz="1500"/>
            </a:p>
          </p:txBody>
        </p:sp>
        <p:sp>
          <p:nvSpPr>
            <p:cNvPr id="364" name="Google Shape;364;p33"/>
            <p:cNvSpPr txBox="1"/>
            <p:nvPr/>
          </p:nvSpPr>
          <p:spPr>
            <a:xfrm>
              <a:off x="691650" y="2310300"/>
              <a:ext cx="64596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/>
                <a:t>Decoded data</a:t>
              </a:r>
              <a:endParaRPr sz="1500"/>
            </a:p>
          </p:txBody>
        </p:sp>
        <p:sp>
          <p:nvSpPr>
            <p:cNvPr id="365" name="Google Shape;365;p33"/>
            <p:cNvSpPr/>
            <p:nvPr/>
          </p:nvSpPr>
          <p:spPr>
            <a:xfrm>
              <a:off x="516900" y="862500"/>
              <a:ext cx="10662900" cy="3002700"/>
            </a:xfrm>
            <a:prstGeom prst="rect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3"/>
            <p:cNvSpPr/>
            <p:nvPr/>
          </p:nvSpPr>
          <p:spPr>
            <a:xfrm rot="5400000">
              <a:off x="7186125" y="2270975"/>
              <a:ext cx="926700" cy="445200"/>
            </a:xfrm>
            <a:prstGeom prst="uturnArrow">
              <a:avLst>
                <a:gd fmla="val 15150" name="adj1"/>
                <a:gd fmla="val 25000" name="adj2"/>
                <a:gd fmla="val 23345" name="adj3"/>
                <a:gd fmla="val 43750" name="adj4"/>
                <a:gd fmla="val 100000" name="adj5"/>
              </a:avLst>
            </a:prstGeom>
            <a:solidFill>
              <a:srgbClr val="AAC50B">
                <a:alpha val="52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33"/>
          <p:cNvSpPr txBox="1"/>
          <p:nvPr/>
        </p:nvSpPr>
        <p:spPr>
          <a:xfrm>
            <a:off x="844060" y="194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Results: </a:t>
            </a:r>
            <a:r>
              <a:rPr lang="en-US" sz="3500">
                <a:solidFill>
                  <a:schemeClr val="dk1"/>
                </a:solidFill>
              </a:rPr>
              <a:t>Decoding Data</a:t>
            </a:r>
            <a:endParaRPr sz="3500"/>
          </a:p>
        </p:txBody>
      </p:sp>
      <p:sp>
        <p:nvSpPr>
          <p:cNvPr id="368" name="Google Shape;368;p33"/>
          <p:cNvSpPr txBox="1"/>
          <p:nvPr/>
        </p:nvSpPr>
        <p:spPr>
          <a:xfrm>
            <a:off x="1148850" y="4289850"/>
            <a:ext cx="64824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Function name :	</a:t>
            </a:r>
            <a:r>
              <a:rPr lang="en-US" sz="1500"/>
              <a:t>frob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Timestamp :</a:t>
            </a:r>
            <a:r>
              <a:rPr lang="en-US" sz="1500"/>
              <a:t> 		2019-11-13 22:10:04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Arguments : </a:t>
            </a:r>
            <a:endParaRPr b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i : 	ETH-A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u :	0xDB47695103dc0a2645A25B8F11EA0a5c03FE52E8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v : 	0xDB47695103dc0a2645A25B8F11EA0a5c03FE52E8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w : 	0xDB47695103dc0a2645A25B8F11EA0a5c03FE52E8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dink (change in collateral) :		50000000000000000 (0.05 ETH)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dart (change in debt) : 		0</a:t>
            </a:r>
            <a:endParaRPr sz="1500"/>
          </a:p>
        </p:txBody>
      </p:sp>
      <p:grpSp>
        <p:nvGrpSpPr>
          <p:cNvPr id="369" name="Google Shape;369;p33"/>
          <p:cNvGrpSpPr/>
          <p:nvPr/>
        </p:nvGrpSpPr>
        <p:grpSpPr>
          <a:xfrm>
            <a:off x="7725850" y="4321400"/>
            <a:ext cx="3781250" cy="1284000"/>
            <a:chOff x="8030650" y="4397600"/>
            <a:chExt cx="3781250" cy="1284000"/>
          </a:xfrm>
        </p:grpSpPr>
        <p:sp>
          <p:nvSpPr>
            <p:cNvPr id="370" name="Google Shape;370;p33"/>
            <p:cNvSpPr/>
            <p:nvPr/>
          </p:nvSpPr>
          <p:spPr>
            <a:xfrm>
              <a:off x="8030650" y="4397600"/>
              <a:ext cx="3781200" cy="1284000"/>
            </a:xfrm>
            <a:prstGeom prst="rect">
              <a:avLst/>
            </a:prstGeom>
            <a:solidFill>
              <a:srgbClr val="D1E84A">
                <a:alpha val="3801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3"/>
            <p:cNvSpPr txBox="1"/>
            <p:nvPr/>
          </p:nvSpPr>
          <p:spPr>
            <a:xfrm>
              <a:off x="8104800" y="4433600"/>
              <a:ext cx="3707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</a:rPr>
                <a:t>Vaults are handled via the frob protocol, which modifies user u's Vault by utilizing collateral tokens from user v and creating DAI for user w.</a:t>
              </a:r>
              <a:endParaRPr sz="1600"/>
            </a:p>
          </p:txBody>
        </p:sp>
      </p:grpSp>
      <p:cxnSp>
        <p:nvCxnSpPr>
          <p:cNvPr id="372" name="Google Shape;372;p33"/>
          <p:cNvCxnSpPr/>
          <p:nvPr/>
        </p:nvCxnSpPr>
        <p:spPr>
          <a:xfrm>
            <a:off x="3489550" y="4513925"/>
            <a:ext cx="4096200" cy="0"/>
          </a:xfrm>
          <a:prstGeom prst="straightConnector1">
            <a:avLst/>
          </a:prstGeom>
          <a:noFill/>
          <a:ln cap="flat" cmpd="sng" w="19050">
            <a:solidFill>
              <a:srgbClr val="AAC50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4"/>
          <p:cNvPicPr preferRelativeResize="0"/>
          <p:nvPr/>
        </p:nvPicPr>
        <p:blipFill rotWithShape="1">
          <a:blip r:embed="rId3">
            <a:alphaModFix/>
          </a:blip>
          <a:srcRect b="0" l="0" r="0" t="6759"/>
          <a:stretch/>
        </p:blipFill>
        <p:spPr>
          <a:xfrm>
            <a:off x="6215450" y="232300"/>
            <a:ext cx="3989387" cy="36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6175" y="4328000"/>
            <a:ext cx="4226100" cy="212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4" title="ppp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8500" y="4291950"/>
            <a:ext cx="4226100" cy="2166189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4"/>
          <p:cNvSpPr txBox="1"/>
          <p:nvPr/>
        </p:nvSpPr>
        <p:spPr>
          <a:xfrm>
            <a:off x="1301800" y="6421100"/>
            <a:ext cx="39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3: </a:t>
            </a:r>
            <a:r>
              <a:rPr lang="en-US"/>
              <a:t>Stability fee rate per year</a:t>
            </a:r>
            <a:endParaRPr/>
          </a:p>
        </p:txBody>
      </p:sp>
      <p:sp>
        <p:nvSpPr>
          <p:cNvPr id="381" name="Google Shape;381;p34"/>
          <p:cNvSpPr txBox="1"/>
          <p:nvPr/>
        </p:nvSpPr>
        <p:spPr>
          <a:xfrm>
            <a:off x="6494525" y="6421100"/>
            <a:ext cx="398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4: </a:t>
            </a:r>
            <a:r>
              <a:rPr lang="en-US"/>
              <a:t>ETH/</a:t>
            </a:r>
            <a:r>
              <a:rPr lang="en-US">
                <a:solidFill>
                  <a:schemeClr val="dk1"/>
                </a:solidFill>
              </a:rPr>
              <a:t>DAI</a:t>
            </a:r>
            <a:r>
              <a:rPr lang="en-US"/>
              <a:t> rate</a:t>
            </a:r>
            <a:endParaRPr/>
          </a:p>
        </p:txBody>
      </p:sp>
      <p:sp>
        <p:nvSpPr>
          <p:cNvPr id="382" name="Google Shape;382;p34"/>
          <p:cNvSpPr txBox="1"/>
          <p:nvPr/>
        </p:nvSpPr>
        <p:spPr>
          <a:xfrm>
            <a:off x="6025388" y="3836238"/>
            <a:ext cx="436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Figure 2: </a:t>
            </a:r>
            <a:r>
              <a:rPr lang="en-US"/>
              <a:t>The </a:t>
            </a:r>
            <a:r>
              <a:rPr lang="en-US"/>
              <a:t>proportion</a:t>
            </a:r>
            <a:r>
              <a:rPr lang="en-US"/>
              <a:t> of each collateral type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844055" y="19400"/>
            <a:ext cx="53886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Results: </a:t>
            </a:r>
            <a:r>
              <a:rPr lang="en-US" sz="3500">
                <a:solidFill>
                  <a:schemeClr val="dk1"/>
                </a:solidFill>
              </a:rPr>
              <a:t>Raw Data</a:t>
            </a:r>
            <a:endParaRPr sz="3500"/>
          </a:p>
        </p:txBody>
      </p:sp>
      <p:pic>
        <p:nvPicPr>
          <p:cNvPr id="384" name="Google Shape;384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5075" y="1098175"/>
            <a:ext cx="3776401" cy="298520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1233963" y="3836300"/>
            <a:ext cx="422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1: Total number of each function name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844060" y="194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MakerDao for portfolio sold-out</a:t>
            </a:r>
            <a:endParaRPr sz="3500"/>
          </a:p>
        </p:txBody>
      </p:sp>
      <p:sp>
        <p:nvSpPr>
          <p:cNvPr id="391" name="Google Shape;391;p35"/>
          <p:cNvSpPr txBox="1"/>
          <p:nvPr/>
        </p:nvSpPr>
        <p:spPr>
          <a:xfrm>
            <a:off x="1208075" y="1289850"/>
            <a:ext cx="773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Daily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 A </a:t>
            </a:r>
            <a:r>
              <a:rPr lang="en-US"/>
              <a:t>borrowers</a:t>
            </a:r>
            <a:r>
              <a:rPr lang="en-US"/>
              <a:t> with debt amounts.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 is a covariance for their defaults.</a:t>
            </a:r>
            <a:endParaRPr/>
          </a:p>
        </p:txBody>
      </p:sp>
      <p:pic>
        <p:nvPicPr>
          <p:cNvPr id="392" name="Google Shape;39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0075" y="2063450"/>
            <a:ext cx="5791074" cy="42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/>
          <p:nvPr/>
        </p:nvSpPr>
        <p:spPr>
          <a:xfrm>
            <a:off x="669100" y="5292545"/>
            <a:ext cx="499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tokenized into commodity asset fractions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8" name="Google Shape;398;p36"/>
          <p:cNvGraphicFramePr/>
          <p:nvPr/>
        </p:nvGraphicFramePr>
        <p:xfrm>
          <a:off x="5829775" y="31360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{0DEC8E7D-3430-4144-83CF-BDE5208A2643}</a:tableStyleId>
              </a:tblPr>
              <a:tblGrid>
                <a:gridCol w="4331075"/>
                <a:gridCol w="1780900"/>
              </a:tblGrid>
              <a:tr h="495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 Method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Tokenized fraction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Compact continuous with continuous algorithm * 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76.58 %</a:t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00" marB="91400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Special case </a:t>
                      </a: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continuous algorithm **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/>
                        <a:t> 40.01 %</a:t>
                      </a:r>
                      <a:endParaRPr sz="1500" u="none" cap="none" strike="noStrike"/>
                    </a:p>
                  </a:txBody>
                  <a:tcPr marT="91400" marB="91400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Special case discrete algorithm **</a:t>
                      </a:r>
                      <a:endParaRPr sz="1500" u="none" cap="none" strike="noStrike"/>
                    </a:p>
                  </a:txBody>
                  <a:tcPr marT="91400" marB="91400" marR="91425" marL="914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13.65 %</a:t>
                      </a:r>
                      <a:endParaRPr sz="1500" u="none" cap="none" strike="noStrike"/>
                    </a:p>
                  </a:txBody>
                  <a:tcPr marT="91400" marB="91400" marR="91425" marL="91425" anchor="ctr"/>
                </a:tc>
              </a:tr>
            </a:tbl>
          </a:graphicData>
        </a:graphic>
      </p:graphicFrame>
      <p:sp>
        <p:nvSpPr>
          <p:cNvPr id="399" name="Google Shape;399;p36"/>
          <p:cNvSpPr txBox="1"/>
          <p:nvPr/>
        </p:nvSpPr>
        <p:spPr>
          <a:xfrm>
            <a:off x="5943600" y="2755822"/>
            <a:ext cx="499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Table: The tokenized fractions of different models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6"/>
          <p:cNvSpPr txBox="1"/>
          <p:nvPr>
            <p:ph idx="12" type="sldNum"/>
          </p:nvPr>
        </p:nvSpPr>
        <p:spPr>
          <a:xfrm>
            <a:off x="11409045" y="6332930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fld id="{00000000-1234-1234-1234-123412341234}" type="slidenum">
              <a:rPr lang="en-US" sz="1900"/>
              <a:t>‹#›</a:t>
            </a:fld>
            <a:endParaRPr sz="1900"/>
          </a:p>
        </p:txBody>
      </p:sp>
      <p:sp>
        <p:nvSpPr>
          <p:cNvPr id="401" name="Google Shape;401;p36"/>
          <p:cNvSpPr txBox="1"/>
          <p:nvPr/>
        </p:nvSpPr>
        <p:spPr>
          <a:xfrm>
            <a:off x="5517250" y="4911872"/>
            <a:ext cx="63756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 Solved by the metaheuristics Slime Mould Algorithm (SMA)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** Mis-Model assumption: independent with the same variance.  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6"/>
          <p:cNvSpPr txBox="1"/>
          <p:nvPr/>
        </p:nvSpPr>
        <p:spPr>
          <a:xfrm>
            <a:off x="1428690" y="558986"/>
            <a:ext cx="986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</a:rPr>
              <a:t>Baseline</a:t>
            </a:r>
            <a:r>
              <a:rPr b="1" lang="en-US" sz="3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MakerDAO dataset  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6"/>
          <p:cNvSpPr txBox="1"/>
          <p:nvPr/>
        </p:nvSpPr>
        <p:spPr>
          <a:xfrm>
            <a:off x="5753575" y="1733395"/>
            <a:ext cx="611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proportion of tokenized asset into the packages defines as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36"/>
          <p:cNvPicPr preferRelativeResize="0"/>
          <p:nvPr/>
        </p:nvPicPr>
        <p:blipFill rotWithShape="1">
          <a:blip r:embed="rId3">
            <a:alphaModFix/>
          </a:blip>
          <a:srcRect b="0" l="0" r="0" t="17884"/>
          <a:stretch/>
        </p:blipFill>
        <p:spPr>
          <a:xfrm>
            <a:off x="6438975" y="2131366"/>
            <a:ext cx="4239349" cy="431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825" y="1938605"/>
            <a:ext cx="5228808" cy="3353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Results: Statistical Data</a:t>
            </a:r>
            <a:endParaRPr sz="4000"/>
          </a:p>
        </p:txBody>
      </p:sp>
      <p:graphicFrame>
        <p:nvGraphicFramePr>
          <p:cNvPr id="411" name="Google Shape;411;p37"/>
          <p:cNvGraphicFramePr/>
          <p:nvPr/>
        </p:nvGraphicFramePr>
        <p:xfrm>
          <a:off x="767850" y="1697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{40AFA961-8208-44D3-B0AB-B7E489F0E400}</a:tableStyleId>
              </a:tblPr>
              <a:tblGrid>
                <a:gridCol w="2716575"/>
                <a:gridCol w="2890600"/>
              </a:tblGrid>
              <a:tr h="433675"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59595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BC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Statistical Data</a:t>
                      </a:r>
                      <a:endParaRPr b="1"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BC5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Date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BC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BC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BC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13 Nov, 2019 - 31 Mar, 2023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BC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BC5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BC5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Total users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84A">
                        <a:alpha val="380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18,352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84A">
                        <a:alpha val="38010"/>
                      </a:srgbClr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Total number of loan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24,855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Total locked collateral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84A">
                        <a:alpha val="380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851,494.17 ETH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84A">
                        <a:alpha val="38010"/>
                      </a:srgbClr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Total generated debt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353,840,942.42 DAI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average daily loan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84A">
                        <a:alpha val="380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4.68 loans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84A">
                        <a:alpha val="38010"/>
                      </a:srgbClr>
                    </a:solidFill>
                  </a:tcPr>
                </a:tc>
              </a:tr>
              <a:tr h="417025">
                <a:tc>
                  <a:txBody>
                    <a:bodyPr/>
                    <a:lstStyle/>
                    <a:p>
                      <a:pPr indent="0" lvl="0" marL="9144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The mean time until default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144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99.88 days</a:t>
                      </a:r>
                      <a:endParaRPr sz="16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D3D3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D3D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2" name="Google Shape;412;p37"/>
          <p:cNvSpPr txBox="1"/>
          <p:nvPr/>
        </p:nvSpPr>
        <p:spPr>
          <a:xfrm>
            <a:off x="767900" y="5446850"/>
            <a:ext cx="560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Table: MakerDao statistical data</a:t>
            </a:r>
            <a:endParaRPr sz="1600"/>
          </a:p>
        </p:txBody>
      </p:sp>
      <p:pic>
        <p:nvPicPr>
          <p:cNvPr id="413" name="Google Shape;4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5275" y="1707275"/>
            <a:ext cx="5012587" cy="373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7"/>
          <p:cNvSpPr txBox="1"/>
          <p:nvPr/>
        </p:nvSpPr>
        <p:spPr>
          <a:xfrm>
            <a:off x="7360675" y="5446850"/>
            <a:ext cx="396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Figure 5: Probability and level of default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Results: liquidation and ETH/DAI rate</a:t>
            </a:r>
            <a:endParaRPr sz="4000"/>
          </a:p>
        </p:txBody>
      </p:sp>
      <p:pic>
        <p:nvPicPr>
          <p:cNvPr id="420" name="Google Shape;4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025" y="1622850"/>
            <a:ext cx="10436649" cy="433475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8"/>
          <p:cNvSpPr txBox="1"/>
          <p:nvPr/>
        </p:nvSpPr>
        <p:spPr>
          <a:xfrm>
            <a:off x="1257900" y="6104700"/>
            <a:ext cx="9749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Figure 6: </a:t>
            </a:r>
            <a:r>
              <a:rPr lang="en-US" sz="1600"/>
              <a:t>Total number of liquidations and n</a:t>
            </a:r>
            <a:r>
              <a:rPr lang="en-US" sz="1600"/>
              <a:t>atural logarithm of ETH/DAI rate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/>
          <p:nvPr/>
        </p:nvSpPr>
        <p:spPr>
          <a:xfrm>
            <a:off x="718047" y="2182683"/>
            <a:ext cx="10338000" cy="40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Comparative critical analysis: what you have deduced from the findings and how these results relate to previous research or other studies.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limitations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NB! Focus on your </a:t>
            </a:r>
            <a:r>
              <a:rPr b="1" i="0" lang="en-US" sz="1800" u="sng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personal contribution.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7" name="Google Shape;427;p39"/>
          <p:cNvGrpSpPr/>
          <p:nvPr/>
        </p:nvGrpSpPr>
        <p:grpSpPr>
          <a:xfrm>
            <a:off x="0" y="324203"/>
            <a:ext cx="12192000" cy="1392522"/>
            <a:chOff x="0" y="324203"/>
            <a:chExt cx="12192000" cy="1392522"/>
          </a:xfrm>
        </p:grpSpPr>
        <p:sp>
          <p:nvSpPr>
            <p:cNvPr id="428" name="Google Shape;428;p39"/>
            <p:cNvSpPr/>
            <p:nvPr/>
          </p:nvSpPr>
          <p:spPr>
            <a:xfrm>
              <a:off x="0" y="343925"/>
              <a:ext cx="12192000" cy="1372800"/>
            </a:xfrm>
            <a:prstGeom prst="rect">
              <a:avLst/>
            </a:prstGeom>
            <a:solidFill>
              <a:srgbClr val="AAC50B">
                <a:alpha val="52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9"/>
            <p:cNvSpPr txBox="1"/>
            <p:nvPr/>
          </p:nvSpPr>
          <p:spPr>
            <a:xfrm>
              <a:off x="844060" y="324203"/>
              <a:ext cx="10577100" cy="13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</a:rPr>
                <a:t>Discussion of results</a:t>
              </a:r>
              <a:endParaRPr sz="4000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0"/>
          <p:cNvSpPr txBox="1"/>
          <p:nvPr/>
        </p:nvSpPr>
        <p:spPr>
          <a:xfrm>
            <a:off x="1292647" y="5145489"/>
            <a:ext cx="8822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Scientific novelty</a:t>
            </a:r>
            <a:endParaRPr/>
          </a:p>
        </p:txBody>
      </p:sp>
      <p:sp>
        <p:nvSpPr>
          <p:cNvPr id="435" name="Google Shape;435;p40"/>
          <p:cNvSpPr txBox="1"/>
          <p:nvPr/>
        </p:nvSpPr>
        <p:spPr>
          <a:xfrm>
            <a:off x="718047" y="2487483"/>
            <a:ext cx="10337880" cy="4009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State-of-the-art component of your research project.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NB!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On this slide, you are supposed to highlight how your research project results stand out from similar studies. It can range from the demonstration of a well-established phenomenon in a new system to testing a hypothesis with no precedent in the literature.</a:t>
            </a:r>
            <a:endParaRPr/>
          </a:p>
        </p:txBody>
      </p:sp>
      <p:grpSp>
        <p:nvGrpSpPr>
          <p:cNvPr id="436" name="Google Shape;436;p40"/>
          <p:cNvGrpSpPr/>
          <p:nvPr/>
        </p:nvGrpSpPr>
        <p:grpSpPr>
          <a:xfrm>
            <a:off x="0" y="324203"/>
            <a:ext cx="12192000" cy="1392522"/>
            <a:chOff x="0" y="324203"/>
            <a:chExt cx="12192000" cy="1392522"/>
          </a:xfrm>
        </p:grpSpPr>
        <p:sp>
          <p:nvSpPr>
            <p:cNvPr id="437" name="Google Shape;437;p40"/>
            <p:cNvSpPr/>
            <p:nvPr/>
          </p:nvSpPr>
          <p:spPr>
            <a:xfrm>
              <a:off x="0" y="343925"/>
              <a:ext cx="12192000" cy="1372800"/>
            </a:xfrm>
            <a:prstGeom prst="rect">
              <a:avLst/>
            </a:prstGeom>
            <a:solidFill>
              <a:srgbClr val="AAC50B">
                <a:alpha val="520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40"/>
            <p:cNvSpPr txBox="1"/>
            <p:nvPr/>
          </p:nvSpPr>
          <p:spPr>
            <a:xfrm>
              <a:off x="844060" y="324203"/>
              <a:ext cx="10577100" cy="13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</a:rPr>
                <a:t>Scientific novelty</a:t>
              </a:r>
              <a:endParaRPr sz="400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/>
          <p:nvPr/>
        </p:nvSpPr>
        <p:spPr>
          <a:xfrm>
            <a:off x="1175465" y="1053965"/>
            <a:ext cx="829502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Innovation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735848" y="2250091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component of your research project (if any), i.e.: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Start-up potential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Industrial application of research results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2"/>
          <p:cNvSpPr/>
          <p:nvPr/>
        </p:nvSpPr>
        <p:spPr>
          <a:xfrm>
            <a:off x="1042900" y="1993150"/>
            <a:ext cx="10337400" cy="3056700"/>
          </a:xfrm>
          <a:prstGeom prst="rect">
            <a:avLst/>
          </a:prstGeom>
          <a:solidFill>
            <a:srgbClr val="D1E84A">
              <a:alpha val="380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2"/>
          <p:cNvSpPr txBox="1"/>
          <p:nvPr/>
        </p:nvSpPr>
        <p:spPr>
          <a:xfrm>
            <a:off x="2868825" y="2676513"/>
            <a:ext cx="8487900" cy="23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Design and develop optimization method to obtain the optimal portfolio sold-out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452" name="Google Shape;452;p42"/>
          <p:cNvSpPr txBox="1"/>
          <p:nvPr/>
        </p:nvSpPr>
        <p:spPr>
          <a:xfrm>
            <a:off x="1296314" y="33021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453" name="Google Shape;453;p42"/>
          <p:cNvSpPr txBox="1"/>
          <p:nvPr/>
        </p:nvSpPr>
        <p:spPr>
          <a:xfrm>
            <a:off x="1296316" y="55629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AAC50B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rgbClr val="AAC50B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454" name="Google Shape;454;p42"/>
          <p:cNvSpPr txBox="1"/>
          <p:nvPr/>
        </p:nvSpPr>
        <p:spPr>
          <a:xfrm>
            <a:off x="2868825" y="5148225"/>
            <a:ext cx="8716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Apply optimization method to the MakerDao dataset</a:t>
            </a:r>
            <a:endParaRPr sz="2800"/>
          </a:p>
        </p:txBody>
      </p:sp>
      <p:cxnSp>
        <p:nvCxnSpPr>
          <p:cNvPr id="455" name="Google Shape;455;p42"/>
          <p:cNvCxnSpPr/>
          <p:nvPr/>
        </p:nvCxnSpPr>
        <p:spPr>
          <a:xfrm>
            <a:off x="2641050" y="2794275"/>
            <a:ext cx="0" cy="2001900"/>
          </a:xfrm>
          <a:prstGeom prst="straightConnector1">
            <a:avLst/>
          </a:prstGeom>
          <a:noFill/>
          <a:ln cap="flat" cmpd="sng" w="9525">
            <a:solidFill>
              <a:srgbClr val="AAC50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42"/>
          <p:cNvCxnSpPr/>
          <p:nvPr/>
        </p:nvCxnSpPr>
        <p:spPr>
          <a:xfrm>
            <a:off x="2641050" y="5308875"/>
            <a:ext cx="0" cy="1581600"/>
          </a:xfrm>
          <a:prstGeom prst="straightConnector1">
            <a:avLst/>
          </a:prstGeom>
          <a:noFill/>
          <a:ln cap="flat" cmpd="sng" w="9525">
            <a:solidFill>
              <a:srgbClr val="AAC50B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Conclusions</a:t>
            </a:r>
            <a:endParaRPr sz="4000"/>
          </a:p>
        </p:txBody>
      </p:sp>
      <p:sp>
        <p:nvSpPr>
          <p:cNvPr id="463" name="Google Shape;463;p43"/>
          <p:cNvSpPr txBox="1"/>
          <p:nvPr/>
        </p:nvSpPr>
        <p:spPr>
          <a:xfrm>
            <a:off x="2193025" y="1873932"/>
            <a:ext cx="8487900" cy="3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Portfolio sold-out problem is reduced to SOCP, which allows optimal numerical solution.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MakerDao DeFi protocol provides real loan dataset, which is impossible for classic banking system.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SOCP solver </a:t>
            </a:r>
            <a:r>
              <a:rPr b="1" lang="en-US" sz="2800">
                <a:solidFill>
                  <a:schemeClr val="dk1"/>
                </a:solidFill>
              </a:rPr>
              <a:t>will</a:t>
            </a:r>
            <a:r>
              <a:rPr lang="en-US" sz="2800">
                <a:solidFill>
                  <a:schemeClr val="dk1"/>
                </a:solidFill>
              </a:rPr>
              <a:t> be applied to the MakerDao dataset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 txBox="1"/>
          <p:nvPr/>
        </p:nvSpPr>
        <p:spPr>
          <a:xfrm>
            <a:off x="1175465" y="1053965"/>
            <a:ext cx="829502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4"/>
          <p:cNvSpPr txBox="1"/>
          <p:nvPr/>
        </p:nvSpPr>
        <p:spPr>
          <a:xfrm>
            <a:off x="735848" y="2250091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Papers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Conferences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Licenses/patents</a:t>
            </a:r>
            <a:endParaRPr/>
          </a:p>
          <a:p>
            <a: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Startups, etc.</a:t>
            </a:r>
            <a:endParaRPr/>
          </a:p>
          <a:p>
            <a:pPr indent="-2286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5"/>
          <p:cNvSpPr/>
          <p:nvPr/>
        </p:nvSpPr>
        <p:spPr>
          <a:xfrm>
            <a:off x="1502175" y="2827225"/>
            <a:ext cx="9230400" cy="1242000"/>
          </a:xfrm>
          <a:prstGeom prst="rect">
            <a:avLst/>
          </a:prstGeom>
          <a:solidFill>
            <a:srgbClr val="D1E84A">
              <a:alpha val="380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5"/>
          <p:cNvSpPr txBox="1"/>
          <p:nvPr/>
        </p:nvSpPr>
        <p:spPr>
          <a:xfrm>
            <a:off x="844060" y="324203"/>
            <a:ext cx="105771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</a:rPr>
              <a:t>Outlook: </a:t>
            </a:r>
            <a:r>
              <a:rPr lang="en-US" sz="3500">
                <a:solidFill>
                  <a:schemeClr val="dk1"/>
                </a:solidFill>
              </a:rPr>
              <a:t>planning to achieve</a:t>
            </a:r>
            <a:endParaRPr sz="4700"/>
          </a:p>
        </p:txBody>
      </p:sp>
      <p:sp>
        <p:nvSpPr>
          <p:cNvPr id="478" name="Google Shape;478;p45"/>
          <p:cNvSpPr txBox="1"/>
          <p:nvPr/>
        </p:nvSpPr>
        <p:spPr>
          <a:xfrm>
            <a:off x="1554900" y="3105750"/>
            <a:ext cx="9082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/>
              <a:t>To complete optimization part with solving SOCP.</a:t>
            </a:r>
            <a:endParaRPr i="1" sz="3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6"/>
          <p:cNvSpPr txBox="1"/>
          <p:nvPr/>
        </p:nvSpPr>
        <p:spPr>
          <a:xfrm>
            <a:off x="982034" y="1097927"/>
            <a:ext cx="8295023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6"/>
          <p:cNvSpPr txBox="1"/>
          <p:nvPr/>
        </p:nvSpPr>
        <p:spPr>
          <a:xfrm>
            <a:off x="533625" y="2408352"/>
            <a:ext cx="8295023" cy="3579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of colleagues who considerably contributed in the research.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neral slides">
  <a:themeElements>
    <a:clrScheme name="Basic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AC50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